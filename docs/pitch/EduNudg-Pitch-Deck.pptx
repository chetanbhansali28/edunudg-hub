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26"/>
  </p:normalViewPr>
  <p:slideViewPr>
    <p:cSldViewPr snapToGrid="0" snapToObjects="1">
      <p:cViewPr varScale="1">
        <p:scale>
          <a:sx n="120" d="100"/>
          <a:sy n="120" d="100"/>
        </p:scale>
        <p:origin x="1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81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(45–60 sec)
"Thank you for the time. I’m not here to show you another school app with fifty menus. I’m here because most institute owners don’t fail on teaching — they fail when growth outruns the office.
You start with WhatsApp, Excel, and a website builder. It works for one center. Then you add a second branch — or a franchisee — and suddenly Students inquire in five places, each center teaches a slightly different course, and you become the glue chasing follow-ups every evening.
EduNudg replaces that glue. By the end of this short deck, you’ll see the problem, the solution, and why a trial is the lowest-risk way to prove it with your own brand."
Pause. Smile. Then go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SCRIPT (~90 sec) — deliver almost verbatim
"Most institute owners don’t fail because the teaching is weak. They fail when growth outruns the office.
You start with WhatsApp, Excel, and a website builder. It works for one center. Then you add a second branch — or a franchisee — and suddenly:
• Student inquiries land in five places and nobody owns the follow-up
• Each center teaches a slightly different version of your course
• You can’t see, from one screen, which centers are converting and which are leaking leads
• Fees, kits, and student lists live in separate tools — or in someone’s phone
• Your brand looks polished on Instagram, but the enrollment experience feels amateur
So the owner becomes the glue: chasing franchises, re-sending brochures, asking ‘did that Student enroll?’ every evening.
If you want Students to trust you at scale, your operations have to look as good as your teaching."
Ask: "Does any of this sound familiar?" — wait for a nod before continuing.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(~40 sec)
"Most products you’ll be shown are either a single-center admin tool — which breaks the day you open a second location — or a heavy ERP that makes your brand feel like software, not an institute Students trust.
EduNudg is different by design. It’s a franchise learning operating system: Brand at the top, Centers underneath, Students after enrollment — three portals, one source of truth.
Hobby classes that still feel personal — even when you run twenty centers."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(~45 sec)
"EduNudg gives your brand a professional public face, a lead-to-enrollment pipeline, control of curriculum across centers, and a student learning portal.
Four jobs, one platform:
1. Acquire — websites and leads
2. Operate — franchises, fees, day-to-day
3. Teach — curriculum consistency and the student portal
4. Grow — kits, contests, batches when you’re ready
You don’t rip out your teaching method. You put the network around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(~50 sec)
"Think of three portals sharing one truth.
Brand HQ — that’s you. You control the website, the curriculum, franchise approvals, and you see the whole network.
Each Center gets a simple front desk: leads assigned to them, students, fees, inventory — not a complex ERP.
After a child enrolls, they get your branded Learn portal — progress, events, profile — so the relationship continues inside your brand, not on random apps.
Commercial note: the brand pays EduNudg. Franchisees use the system; they don’t buy the platform from 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ACQUIRE (~55 sec)
"Pitch line: Students meet your institute online — not a software company’s portal.
On the left: your white-label site. Themes built for education brands. Homepage you control. Course pages from your curriculum. Even login looks like you.
On the right: the pipeline. Students apply on brand or center site. You assign to the right center. Centers convert to student or mark lost with a reason. Stale alerts mean quiet franchises don’t bury opportunities.
Every inquiry has an owner, a timeline, and an outcome — not a forgotten WhatsApp."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OPERATE (~55 sec)
"Pitch line: Open a new center without inventing a new process.
Franchise applications: approve, and the center site plus operator invite happen together.
You can import franchises by CSV when you’re rolling out fast. You enable which curriculum each center teaches — so your method stays yours.
Franchisees get a real front desk: leads, students, fees, inventory — not fifty screens they’ll ignore.
From HQ you see the network roster and analytics. Disable a center if needed. Open their public site or staff app from one panel.
Important: royalties and kit money between you and franchises stay your business terms. EduNudg is the operating layer — you still run your franchise economics."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(~50 sec)
"Pitch line: Your method stays consistent — even when you have twenty classrooms.
Curriculum is the system of record: courses, levels, units. Publish when ready. Marketing banners per course. Public course pages and center offerings all pull from the same place.
After enrollment, students land in your Learn portal — progress through the ladder, events if you run competitions, profile linked back to their center.
This is how enrollment becomes a relationship, not a one-time form fill."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 (~35 sec)
"You’re not forced to turn everything on day one.
When kits matter, Merchandise connects brand catalog to center shop and inventory — scoped to the courses each center teaches.
Competitions give you events and quizzes in the student portal. Batches help centers schedule. Campaigns when you need brand-level pushes.
Start with website + leads + curriculum. Grow the modules with the network."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(~40 sec, or live demo)
"If we do a live walkthrough in the trial, this is the story:
1. A Student applies on your branded site
2. Brand HQ assigns the lead to the right center
3. The center converts them to a student and invites the Learn portal
4. The student sees progress under your brand
That’s the full loop from inquiry to learning — without WhatsApp archaeology.
If you’re presenting without a live demo, say: ‘This is exactly what we’ll set up with your brand in the trial.’"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 COMMERCIAL (~45 sec)
"Ideal buyers: education brands and franchisors; institute owners with multiple locations; anyone planning to franchise.
Even if you’re one center today — build the brand system now so the second center copies the first instead of reinventing it.
How it’s sold: the brand pays. Franchises use EduNudg; they don’t buy it from us. Your royalty and kit arrangements with franchisees stay yours.
Trial: put one brand live with one or two centers and real Student inquiries. That’s how we prove value without a leap of faith."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(~30 sec) — deliver slowly
"I’m not asking you to rip out everything tomorrow. I’m asking you to put one brand on EduNudg for a trial: your website live, one or two centers, real Student inquiries flowing into a pipeline you can see.
If by the end of the trial you still need WhatsApp to know who enrolled — we haven’t earned your business.
If leads are owned, centers are consistent, and Students see a professional brand — you’ll wonder how you ran the network without it.
Shall we set up your trial brand this week?"
Then STOP. Let them answer. Do not keep talking.
OBJECTION CHEAT SHEET (if they push back):
• “We already have a website.” → A brochure site doesn’t assign leads or keep curriculum consistent across centers.
• “WhatsApp works.” → Until the second location — then you become the bottleneck.
• “Franchisees won’t use software.” → They get a simple front desk: leads, students, fees — not a complex ERP.
• “We’re only one center.” → Perfect — build the brand system now so the second center copies the first.
• “Is this for students or for me?” → Both: you run the network; students get a branded learning portal after enrollment.
DO NOT PROMISE as live today: full Student portal, dedicated attendance module, or full AI copilot.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Shape 2"/>
          <p:cNvSpPr/>
          <p:nvPr/>
        </p:nvSpPr>
        <p:spPr>
          <a:xfrm>
            <a:off x="640080" y="1463040"/>
            <a:ext cx="2377440" cy="292608"/>
          </a:xfrm>
          <a:prstGeom prst="roundRect">
            <a:avLst>
              <a:gd name="adj" fmla="val 31250"/>
            </a:avLst>
          </a:prstGeom>
          <a:solidFill>
            <a:srgbClr val="0D9488"/>
          </a:solidFill>
          <a:ln w="12700">
            <a:solidFill>
              <a:srgbClr val="0D9488"/>
            </a:solidFill>
            <a:prstDash val="solid"/>
          </a:ln>
        </p:spPr>
      </p:sp>
      <p:sp>
        <p:nvSpPr>
          <p:cNvPr id="5" name="Text 3"/>
          <p:cNvSpPr/>
          <p:nvPr/>
        </p:nvSpPr>
        <p:spPr>
          <a:xfrm>
            <a:off x="640080" y="1463040"/>
            <a:ext cx="23774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FOR EDUCATION BRANDS</a:t>
            </a:r>
            <a:endParaRPr lang="en-US" sz="1100" dirty="0"/>
          </a:p>
        </p:txBody>
      </p:sp>
      <p:sp>
        <p:nvSpPr>
          <p:cNvPr id="6" name="Text 4"/>
          <p:cNvSpPr/>
          <p:nvPr/>
        </p:nvSpPr>
        <p:spPr>
          <a:xfrm>
            <a:off x="640080" y="2011680"/>
            <a:ext cx="7315200" cy="1645920"/>
          </a:xfrm>
          <a:prstGeom prst="rect">
            <a:avLst/>
          </a:prstGeom>
          <a:noFill/>
          <a:ln/>
        </p:spPr>
        <p:txBody>
          <a:bodyPr wrap="square" lIns="0" tIns="0" rIns="0" bIns="0" rtlCol="0" anchor="ctr"/>
          <a:lstStyle/>
          <a:p>
            <a:pPr marL="0" indent="0">
              <a:buNone/>
            </a:pPr>
            <a:r>
              <a:rPr lang="en-US" sz="4400" b="1" dirty="0">
                <a:solidFill>
                  <a:srgbClr val="F4F7FA"/>
                </a:solidFill>
                <a:latin typeface="Georgia" pitchFamily="34" charset="0"/>
                <a:ea typeface="Georgia" pitchFamily="34" charset="-122"/>
                <a:cs typeface="Georgia" pitchFamily="34" charset="-120"/>
              </a:rPr>
              <a:t>Teaching scales.</a:t>
            </a:r>
            <a:endParaRPr lang="en-US" sz="4400" dirty="0"/>
          </a:p>
          <a:p>
            <a:pPr marL="0" indent="0">
              <a:buNone/>
            </a:pPr>
            <a:r>
              <a:rPr lang="en-US" sz="4400" b="1" dirty="0">
                <a:solidFill>
                  <a:srgbClr val="F4F7FA"/>
                </a:solidFill>
                <a:latin typeface="Georgia" pitchFamily="34" charset="0"/>
                <a:ea typeface="Georgia" pitchFamily="34" charset="-122"/>
                <a:cs typeface="Georgia" pitchFamily="34" charset="-120"/>
              </a:rPr>
              <a:t>Spreadsheets don’t.</a:t>
            </a:r>
            <a:endParaRPr lang="en-US" sz="4400" dirty="0"/>
          </a:p>
        </p:txBody>
      </p:sp>
      <p:sp>
        <p:nvSpPr>
          <p:cNvPr id="7" name="Text 5"/>
          <p:cNvSpPr/>
          <p:nvPr/>
        </p:nvSpPr>
        <p:spPr>
          <a:xfrm>
            <a:off x="640080" y="3840480"/>
            <a:ext cx="7498080" cy="822960"/>
          </a:xfrm>
          <a:prstGeom prst="rect">
            <a:avLst/>
          </a:prstGeom>
          <a:noFill/>
          <a:ln/>
        </p:spPr>
        <p:txBody>
          <a:bodyPr wrap="square" lIns="0" tIns="0" rIns="0" bIns="0" rtlCol="0" anchor="ctr"/>
          <a:lstStyle/>
          <a:p>
            <a:pPr marL="0" indent="0">
              <a:buNone/>
            </a:pPr>
            <a:r>
              <a:rPr lang="en-US" sz="1600" dirty="0">
                <a:solidFill>
                  <a:srgbClr val="A8B8C8"/>
                </a:solidFill>
                <a:latin typeface="Calibri" pitchFamily="34" charset="0"/>
                <a:ea typeface="Calibri" pitchFamily="34" charset="-122"/>
                <a:cs typeface="Calibri" pitchFamily="34" charset="-120"/>
              </a:rPr>
              <a:t>EduNudg is the operating system for education brands that run centers —</a:t>
            </a:r>
            <a:endParaRPr lang="en-US" sz="1600" dirty="0"/>
          </a:p>
          <a:p>
            <a:pPr marL="0" indent="0">
              <a:buNone/>
            </a:pPr>
            <a:r>
              <a:rPr lang="en-US" sz="1600" dirty="0">
                <a:solidFill>
                  <a:srgbClr val="A8B8C8"/>
                </a:solidFill>
                <a:latin typeface="Calibri" pitchFamily="34" charset="0"/>
                <a:ea typeface="Calibri" pitchFamily="34" charset="-122"/>
                <a:cs typeface="Calibri" pitchFamily="34" charset="-120"/>
              </a:rPr>
              <a:t>website, leads, franchises, curriculum, fees, and student learning in one place.</a:t>
            </a:r>
            <a:endParaRPr lang="en-US" sz="1600" dirty="0"/>
          </a:p>
        </p:txBody>
      </p:sp>
      <p:sp>
        <p:nvSpPr>
          <p:cNvPr id="8" name="Text 6"/>
          <p:cNvSpPr/>
          <p:nvPr/>
        </p:nvSpPr>
        <p:spPr>
          <a:xfrm>
            <a:off x="640080" y="4937760"/>
            <a:ext cx="7315200" cy="320040"/>
          </a:xfrm>
          <a:prstGeom prst="rect">
            <a:avLst/>
          </a:prstGeom>
          <a:noFill/>
          <a:ln/>
        </p:spPr>
        <p:txBody>
          <a:bodyPr wrap="square" lIns="0" tIns="0" rIns="0" bIns="0" rtlCol="0" anchor="ctr"/>
          <a:lstStyle/>
          <a:p>
            <a:pPr marL="0" indent="0">
              <a:buNone/>
            </a:pPr>
            <a:r>
              <a:rPr lang="en-US" sz="1400" i="1" dirty="0">
                <a:solidFill>
                  <a:srgbClr val="2DD4BF"/>
                </a:solidFill>
                <a:latin typeface="Georgia" pitchFamily="34" charset="0"/>
                <a:ea typeface="Georgia" pitchFamily="34" charset="-122"/>
                <a:cs typeface="Georgia" pitchFamily="34" charset="-120"/>
              </a:rPr>
              <a:t>Learn with clarity.  Lead with confidence.</a:t>
            </a:r>
            <a:endParaRPr lang="en-US" sz="1400" dirty="0"/>
          </a:p>
        </p:txBody>
      </p:sp>
      <p:sp>
        <p:nvSpPr>
          <p:cNvPr id="9" name="Shape 7"/>
          <p:cNvSpPr/>
          <p:nvPr/>
        </p:nvSpPr>
        <p:spPr>
          <a:xfrm>
            <a:off x="8595360" y="1828800"/>
            <a:ext cx="3017520" cy="3291840"/>
          </a:xfrm>
          <a:prstGeom prst="roundRect">
            <a:avLst>
              <a:gd name="adj" fmla="val 3636"/>
            </a:avLst>
          </a:prstGeom>
          <a:solidFill>
            <a:srgbClr val="16324A"/>
          </a:solidFill>
          <a:ln w="12700">
            <a:solidFill>
              <a:srgbClr val="2A455C"/>
            </a:solidFill>
            <a:prstDash val="solid"/>
          </a:ln>
        </p:spPr>
      </p:sp>
      <p:sp>
        <p:nvSpPr>
          <p:cNvPr id="10" name="Text 8"/>
          <p:cNvSpPr/>
          <p:nvPr/>
        </p:nvSpPr>
        <p:spPr>
          <a:xfrm>
            <a:off x="8823960" y="2057400"/>
            <a:ext cx="2651760" cy="32004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Today’s ask</a:t>
            </a:r>
            <a:endParaRPr lang="en-US" sz="1200" dirty="0"/>
          </a:p>
        </p:txBody>
      </p:sp>
      <p:sp>
        <p:nvSpPr>
          <p:cNvPr id="11" name="Text 9"/>
          <p:cNvSpPr/>
          <p:nvPr/>
        </p:nvSpPr>
        <p:spPr>
          <a:xfrm>
            <a:off x="8823960" y="2514600"/>
            <a:ext cx="2651760" cy="201168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See the problem clearly.</a:t>
            </a:r>
            <a:endParaRPr lang="en-US" sz="1500" dirty="0"/>
          </a:p>
          <a:p>
            <a:pPr marL="0" indent="0">
              <a:buNone/>
            </a:pPr>
            <a:r>
              <a:rPr lang="en-US" sz="1500" dirty="0">
                <a:solidFill>
                  <a:srgbClr val="F4F7FA"/>
                </a:solidFill>
                <a:latin typeface="Calibri" pitchFamily="34" charset="0"/>
                <a:ea typeface="Calibri" pitchFamily="34" charset="-122"/>
                <a:cs typeface="Calibri" pitchFamily="34" charset="-120"/>
              </a:rPr>
              <a:t>See how EduNudg fixes it.</a:t>
            </a:r>
            <a:endParaRPr lang="en-US" sz="1500" dirty="0"/>
          </a:p>
          <a:p>
            <a:pPr marL="0" indent="0">
              <a:buNone/>
            </a:pPr>
            <a:r>
              <a:rPr lang="en-US" sz="1500" dirty="0">
                <a:solidFill>
                  <a:srgbClr val="F4F7FA"/>
                </a:solidFill>
                <a:latin typeface="Calibri" pitchFamily="34" charset="0"/>
                <a:ea typeface="Calibri" pitchFamily="34" charset="-122"/>
                <a:cs typeface="Calibri" pitchFamily="34" charset="-120"/>
              </a:rPr>
              <a:t>Leave ready to start a trial.</a:t>
            </a:r>
            <a:endParaRPr lang="en-US" sz="1500" dirty="0"/>
          </a:p>
        </p:txBody>
      </p:sp>
      <p:sp>
        <p:nvSpPr>
          <p:cNvPr id="12" name="Text 10"/>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13" name="Text 1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640080" y="685800"/>
            <a:ext cx="10515600" cy="502920"/>
          </a:xfrm>
          <a:prstGeom prst="rect">
            <a:avLst/>
          </a:prstGeom>
          <a:noFill/>
          <a:ln/>
        </p:spPr>
        <p:txBody>
          <a:bodyPr wrap="square" lIns="0" tIns="0" rIns="0" bIns="0" rtlCol="0" anchor="ctr"/>
          <a:lstStyle/>
          <a:p>
            <a:pPr marL="0" indent="0">
              <a:buNone/>
            </a:pPr>
            <a:r>
              <a:rPr lang="en-US" sz="2800" dirty="0">
                <a:solidFill>
                  <a:srgbClr val="F4F7FA"/>
                </a:solidFill>
                <a:latin typeface="Georgia" pitchFamily="34" charset="0"/>
                <a:ea typeface="Georgia" pitchFamily="34" charset="-122"/>
                <a:cs typeface="Georgia" pitchFamily="34" charset="-120"/>
              </a:rPr>
              <a:t>Growth creates chaos — not because teaching is weak.</a:t>
            </a:r>
            <a:endParaRPr lang="en-US" sz="2800" dirty="0"/>
          </a:p>
        </p:txBody>
      </p:sp>
      <p:sp>
        <p:nvSpPr>
          <p:cNvPr id="6" name="Shape 4"/>
          <p:cNvSpPr/>
          <p:nvPr/>
        </p:nvSpPr>
        <p:spPr>
          <a:xfrm>
            <a:off x="640080" y="1463040"/>
            <a:ext cx="5394960" cy="1828800"/>
          </a:xfrm>
          <a:prstGeom prst="roundRect">
            <a:avLst>
              <a:gd name="adj" fmla="val 6000"/>
            </a:avLst>
          </a:prstGeom>
          <a:solidFill>
            <a:srgbClr val="16324A"/>
          </a:solidFill>
          <a:ln w="12700">
            <a:solidFill>
              <a:srgbClr val="2A455C"/>
            </a:solidFill>
            <a:prstDash val="solid"/>
          </a:ln>
        </p:spPr>
      </p:sp>
      <p:sp>
        <p:nvSpPr>
          <p:cNvPr id="7" name="Shape 5"/>
          <p:cNvSpPr/>
          <p:nvPr/>
        </p:nvSpPr>
        <p:spPr>
          <a:xfrm>
            <a:off x="868680" y="1783080"/>
            <a:ext cx="109728" cy="1097280"/>
          </a:xfrm>
          <a:prstGeom prst="roundRect">
            <a:avLst>
              <a:gd name="adj" fmla="val 50000"/>
            </a:avLst>
          </a:prstGeom>
          <a:solidFill>
            <a:srgbClr val="FB7185"/>
          </a:solidFill>
          <a:ln w="12700">
            <a:solidFill>
              <a:srgbClr val="FB7185"/>
            </a:solidFill>
            <a:prstDash val="solid"/>
          </a:ln>
        </p:spPr>
      </p:sp>
      <p:sp>
        <p:nvSpPr>
          <p:cNvPr id="8" name="Text 6"/>
          <p:cNvSpPr/>
          <p:nvPr/>
        </p:nvSpPr>
        <p:spPr>
          <a:xfrm>
            <a:off x="1143000" y="1783080"/>
            <a:ext cx="4572000" cy="36576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Lost inquiries</a:t>
            </a:r>
            <a:endParaRPr lang="en-US" sz="1800" dirty="0"/>
          </a:p>
        </p:txBody>
      </p:sp>
      <p:sp>
        <p:nvSpPr>
          <p:cNvPr id="9" name="Text 7"/>
          <p:cNvSpPr/>
          <p:nvPr/>
        </p:nvSpPr>
        <p:spPr>
          <a:xfrm>
            <a:off x="1143000" y="2286000"/>
            <a:ext cx="4572000" cy="73152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Student leads land in WhatsApp, forms, and phone notes. Nobody owns the follow-up.</a:t>
            </a:r>
            <a:endParaRPr lang="en-US" sz="1400" dirty="0"/>
          </a:p>
        </p:txBody>
      </p:sp>
      <p:sp>
        <p:nvSpPr>
          <p:cNvPr id="10" name="Shape 8"/>
          <p:cNvSpPr/>
          <p:nvPr/>
        </p:nvSpPr>
        <p:spPr>
          <a:xfrm>
            <a:off x="6309360" y="1463040"/>
            <a:ext cx="5394960" cy="1828800"/>
          </a:xfrm>
          <a:prstGeom prst="roundRect">
            <a:avLst>
              <a:gd name="adj" fmla="val 6000"/>
            </a:avLst>
          </a:prstGeom>
          <a:solidFill>
            <a:srgbClr val="16324A"/>
          </a:solidFill>
          <a:ln w="12700">
            <a:solidFill>
              <a:srgbClr val="2A455C"/>
            </a:solidFill>
            <a:prstDash val="solid"/>
          </a:ln>
        </p:spPr>
      </p:sp>
      <p:sp>
        <p:nvSpPr>
          <p:cNvPr id="11" name="Shape 9"/>
          <p:cNvSpPr/>
          <p:nvPr/>
        </p:nvSpPr>
        <p:spPr>
          <a:xfrm>
            <a:off x="6537960" y="1783080"/>
            <a:ext cx="109728" cy="1097280"/>
          </a:xfrm>
          <a:prstGeom prst="roundRect">
            <a:avLst>
              <a:gd name="adj" fmla="val 50000"/>
            </a:avLst>
          </a:prstGeom>
          <a:solidFill>
            <a:srgbClr val="FB7185"/>
          </a:solidFill>
          <a:ln w="12700">
            <a:solidFill>
              <a:srgbClr val="FB7185"/>
            </a:solidFill>
            <a:prstDash val="solid"/>
          </a:ln>
        </p:spPr>
      </p:sp>
      <p:sp>
        <p:nvSpPr>
          <p:cNvPr id="12" name="Text 10"/>
          <p:cNvSpPr/>
          <p:nvPr/>
        </p:nvSpPr>
        <p:spPr>
          <a:xfrm>
            <a:off x="6812280" y="1783080"/>
            <a:ext cx="4572000" cy="36576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Inconsistent delivery</a:t>
            </a:r>
            <a:endParaRPr lang="en-US" sz="1800" dirty="0"/>
          </a:p>
        </p:txBody>
      </p:sp>
      <p:sp>
        <p:nvSpPr>
          <p:cNvPr id="13" name="Text 11"/>
          <p:cNvSpPr/>
          <p:nvPr/>
        </p:nvSpPr>
        <p:spPr>
          <a:xfrm>
            <a:off x="6812280" y="2286000"/>
            <a:ext cx="4572000" cy="73152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Each center teaches a slightly different version of your method.</a:t>
            </a:r>
            <a:endParaRPr lang="en-US" sz="1400" dirty="0"/>
          </a:p>
        </p:txBody>
      </p:sp>
      <p:sp>
        <p:nvSpPr>
          <p:cNvPr id="14" name="Shape 12"/>
          <p:cNvSpPr/>
          <p:nvPr/>
        </p:nvSpPr>
        <p:spPr>
          <a:xfrm>
            <a:off x="640080" y="3474720"/>
            <a:ext cx="5394960" cy="1828800"/>
          </a:xfrm>
          <a:prstGeom prst="roundRect">
            <a:avLst>
              <a:gd name="adj" fmla="val 6000"/>
            </a:avLst>
          </a:prstGeom>
          <a:solidFill>
            <a:srgbClr val="16324A"/>
          </a:solidFill>
          <a:ln w="12700">
            <a:solidFill>
              <a:srgbClr val="2A455C"/>
            </a:solidFill>
            <a:prstDash val="solid"/>
          </a:ln>
        </p:spPr>
      </p:sp>
      <p:sp>
        <p:nvSpPr>
          <p:cNvPr id="15" name="Shape 13"/>
          <p:cNvSpPr/>
          <p:nvPr/>
        </p:nvSpPr>
        <p:spPr>
          <a:xfrm>
            <a:off x="868680" y="3794760"/>
            <a:ext cx="109728" cy="1097280"/>
          </a:xfrm>
          <a:prstGeom prst="roundRect">
            <a:avLst>
              <a:gd name="adj" fmla="val 50000"/>
            </a:avLst>
          </a:prstGeom>
          <a:solidFill>
            <a:srgbClr val="FB7185"/>
          </a:solidFill>
          <a:ln w="12700">
            <a:solidFill>
              <a:srgbClr val="FB7185"/>
            </a:solidFill>
            <a:prstDash val="solid"/>
          </a:ln>
        </p:spPr>
      </p:sp>
      <p:sp>
        <p:nvSpPr>
          <p:cNvPr id="16" name="Text 14"/>
          <p:cNvSpPr/>
          <p:nvPr/>
        </p:nvSpPr>
        <p:spPr>
          <a:xfrm>
            <a:off x="1143000" y="3794760"/>
            <a:ext cx="4572000" cy="36576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Blind network</a:t>
            </a:r>
            <a:endParaRPr lang="en-US" sz="1800" dirty="0"/>
          </a:p>
        </p:txBody>
      </p:sp>
      <p:sp>
        <p:nvSpPr>
          <p:cNvPr id="17" name="Text 15"/>
          <p:cNvSpPr/>
          <p:nvPr/>
        </p:nvSpPr>
        <p:spPr>
          <a:xfrm>
            <a:off x="1143000" y="4297680"/>
            <a:ext cx="4572000" cy="73152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You can’t see which centers convert — and which leak opportunities.</a:t>
            </a:r>
            <a:endParaRPr lang="en-US" sz="1400" dirty="0"/>
          </a:p>
        </p:txBody>
      </p:sp>
      <p:sp>
        <p:nvSpPr>
          <p:cNvPr id="18" name="Shape 16"/>
          <p:cNvSpPr/>
          <p:nvPr/>
        </p:nvSpPr>
        <p:spPr>
          <a:xfrm>
            <a:off x="6309360" y="3474720"/>
            <a:ext cx="5394960" cy="1828800"/>
          </a:xfrm>
          <a:prstGeom prst="roundRect">
            <a:avLst>
              <a:gd name="adj" fmla="val 6000"/>
            </a:avLst>
          </a:prstGeom>
          <a:solidFill>
            <a:srgbClr val="16324A"/>
          </a:solidFill>
          <a:ln w="12700">
            <a:solidFill>
              <a:srgbClr val="2A455C"/>
            </a:solidFill>
            <a:prstDash val="solid"/>
          </a:ln>
        </p:spPr>
      </p:sp>
      <p:sp>
        <p:nvSpPr>
          <p:cNvPr id="19" name="Shape 17"/>
          <p:cNvSpPr/>
          <p:nvPr/>
        </p:nvSpPr>
        <p:spPr>
          <a:xfrm>
            <a:off x="6537960" y="3794760"/>
            <a:ext cx="109728" cy="1097280"/>
          </a:xfrm>
          <a:prstGeom prst="roundRect">
            <a:avLst>
              <a:gd name="adj" fmla="val 50000"/>
            </a:avLst>
          </a:prstGeom>
          <a:solidFill>
            <a:srgbClr val="FB7185"/>
          </a:solidFill>
          <a:ln w="12700">
            <a:solidFill>
              <a:srgbClr val="FB7185"/>
            </a:solidFill>
            <a:prstDash val="solid"/>
          </a:ln>
        </p:spPr>
      </p:sp>
      <p:sp>
        <p:nvSpPr>
          <p:cNvPr id="20" name="Text 18"/>
          <p:cNvSpPr/>
          <p:nvPr/>
        </p:nvSpPr>
        <p:spPr>
          <a:xfrm>
            <a:off x="6812280" y="3794760"/>
            <a:ext cx="4572000" cy="36576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Scattered ops</a:t>
            </a:r>
            <a:endParaRPr lang="en-US" sz="1800" dirty="0"/>
          </a:p>
        </p:txBody>
      </p:sp>
      <p:sp>
        <p:nvSpPr>
          <p:cNvPr id="21" name="Text 19"/>
          <p:cNvSpPr/>
          <p:nvPr/>
        </p:nvSpPr>
        <p:spPr>
          <a:xfrm>
            <a:off x="6812280" y="4297680"/>
            <a:ext cx="4572000" cy="73152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Fees, kits, and student lists live in separate tools — or someone’s phone.</a:t>
            </a:r>
            <a:endParaRPr lang="en-US" sz="1400" dirty="0"/>
          </a:p>
        </p:txBody>
      </p:sp>
      <p:sp>
        <p:nvSpPr>
          <p:cNvPr id="22" name="Text 20"/>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3" name="Text 2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45720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THE INSIGHT</a:t>
            </a:r>
            <a:endParaRPr lang="en-US" sz="1200" dirty="0"/>
          </a:p>
        </p:txBody>
      </p:sp>
      <p:sp>
        <p:nvSpPr>
          <p:cNvPr id="5" name="Text 3"/>
          <p:cNvSpPr/>
          <p:nvPr/>
        </p:nvSpPr>
        <p:spPr>
          <a:xfrm>
            <a:off x="640080" y="1371600"/>
            <a:ext cx="10972800" cy="640080"/>
          </a:xfrm>
          <a:prstGeom prst="rect">
            <a:avLst/>
          </a:prstGeom>
          <a:noFill/>
          <a:ln/>
        </p:spPr>
        <p:txBody>
          <a:bodyPr wrap="square" lIns="0" tIns="0" rIns="0" bIns="0" rtlCol="0" anchor="ctr"/>
          <a:lstStyle/>
          <a:p>
            <a:pPr marL="0" indent="0">
              <a:buNone/>
            </a:pPr>
            <a:r>
              <a:rPr lang="en-US" sz="3200" dirty="0">
                <a:solidFill>
                  <a:srgbClr val="F4F7FA"/>
                </a:solidFill>
                <a:latin typeface="Georgia" pitchFamily="34" charset="0"/>
                <a:ea typeface="Georgia" pitchFamily="34" charset="-122"/>
                <a:cs typeface="Georgia" pitchFamily="34" charset="-120"/>
              </a:rPr>
              <a:t>You don’t need another ERP.</a:t>
            </a:r>
            <a:endParaRPr lang="en-US" sz="3200" dirty="0"/>
          </a:p>
        </p:txBody>
      </p:sp>
      <p:sp>
        <p:nvSpPr>
          <p:cNvPr id="6" name="Text 4"/>
          <p:cNvSpPr/>
          <p:nvPr/>
        </p:nvSpPr>
        <p:spPr>
          <a:xfrm>
            <a:off x="640080" y="2057400"/>
            <a:ext cx="10972800" cy="640080"/>
          </a:xfrm>
          <a:prstGeom prst="rect">
            <a:avLst/>
          </a:prstGeom>
          <a:noFill/>
          <a:ln/>
        </p:spPr>
        <p:txBody>
          <a:bodyPr wrap="square" lIns="0" tIns="0" rIns="0" bIns="0" rtlCol="0" anchor="ctr"/>
          <a:lstStyle/>
          <a:p>
            <a:pPr marL="0" indent="0">
              <a:buNone/>
            </a:pPr>
            <a:r>
              <a:rPr lang="en-US" sz="3200" dirty="0">
                <a:solidFill>
                  <a:srgbClr val="2DD4BF"/>
                </a:solidFill>
                <a:latin typeface="Georgia" pitchFamily="34" charset="0"/>
                <a:ea typeface="Georgia" pitchFamily="34" charset="-122"/>
                <a:cs typeface="Georgia" pitchFamily="34" charset="-120"/>
              </a:rPr>
              <a:t>You need a franchise learning operating system.</a:t>
            </a:r>
            <a:endParaRPr lang="en-US" sz="3200" dirty="0"/>
          </a:p>
        </p:txBody>
      </p:sp>
      <p:sp>
        <p:nvSpPr>
          <p:cNvPr id="7" name="Shape 5"/>
          <p:cNvSpPr/>
          <p:nvPr/>
        </p:nvSpPr>
        <p:spPr>
          <a:xfrm>
            <a:off x="640080" y="3108960"/>
            <a:ext cx="3566160" cy="2377440"/>
          </a:xfrm>
          <a:prstGeom prst="roundRect">
            <a:avLst>
              <a:gd name="adj" fmla="val 4615"/>
            </a:avLst>
          </a:prstGeom>
          <a:solidFill>
            <a:srgbClr val="16324A"/>
          </a:solidFill>
          <a:ln w="12700">
            <a:solidFill>
              <a:srgbClr val="2A455C"/>
            </a:solidFill>
            <a:prstDash val="solid"/>
          </a:ln>
        </p:spPr>
      </p:sp>
      <p:sp>
        <p:nvSpPr>
          <p:cNvPr id="8" name="Text 6"/>
          <p:cNvSpPr/>
          <p:nvPr/>
        </p:nvSpPr>
        <p:spPr>
          <a:xfrm>
            <a:off x="868680" y="3383280"/>
            <a:ext cx="3108960" cy="45720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Single-center tools</a:t>
            </a:r>
            <a:endParaRPr lang="en-US" sz="1600" dirty="0"/>
          </a:p>
        </p:txBody>
      </p:sp>
      <p:sp>
        <p:nvSpPr>
          <p:cNvPr id="9" name="Text 7"/>
          <p:cNvSpPr/>
          <p:nvPr/>
        </p:nvSpPr>
        <p:spPr>
          <a:xfrm>
            <a:off x="868680" y="4023360"/>
            <a:ext cx="3108960" cy="109728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Built for one school office. Break when you franchise.</a:t>
            </a:r>
            <a:endParaRPr lang="en-US" sz="1400" dirty="0"/>
          </a:p>
        </p:txBody>
      </p:sp>
      <p:sp>
        <p:nvSpPr>
          <p:cNvPr id="10" name="Shape 8"/>
          <p:cNvSpPr/>
          <p:nvPr/>
        </p:nvSpPr>
        <p:spPr>
          <a:xfrm>
            <a:off x="4389120" y="3108960"/>
            <a:ext cx="3566160" cy="2377440"/>
          </a:xfrm>
          <a:prstGeom prst="roundRect">
            <a:avLst>
              <a:gd name="adj" fmla="val 4615"/>
            </a:avLst>
          </a:prstGeom>
          <a:solidFill>
            <a:srgbClr val="16324A"/>
          </a:solidFill>
          <a:ln w="12700">
            <a:solidFill>
              <a:srgbClr val="2A455C"/>
            </a:solidFill>
            <a:prstDash val="solid"/>
          </a:ln>
        </p:spPr>
      </p:sp>
      <p:sp>
        <p:nvSpPr>
          <p:cNvPr id="11" name="Text 9"/>
          <p:cNvSpPr/>
          <p:nvPr/>
        </p:nvSpPr>
        <p:spPr>
          <a:xfrm>
            <a:off x="4617720" y="3383280"/>
            <a:ext cx="3108960" cy="45720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Generic ERPs</a:t>
            </a:r>
            <a:endParaRPr lang="en-US" sz="1600" dirty="0"/>
          </a:p>
        </p:txBody>
      </p:sp>
      <p:sp>
        <p:nvSpPr>
          <p:cNvPr id="12" name="Text 10"/>
          <p:cNvSpPr/>
          <p:nvPr/>
        </p:nvSpPr>
        <p:spPr>
          <a:xfrm>
            <a:off x="4617720" y="4023360"/>
            <a:ext cx="3108960" cy="109728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Heavy menus. Weak brand experience. Students don’t feel your institute.</a:t>
            </a:r>
            <a:endParaRPr lang="en-US" sz="1400" dirty="0"/>
          </a:p>
        </p:txBody>
      </p:sp>
      <p:sp>
        <p:nvSpPr>
          <p:cNvPr id="13" name="Shape 11"/>
          <p:cNvSpPr/>
          <p:nvPr/>
        </p:nvSpPr>
        <p:spPr>
          <a:xfrm>
            <a:off x="8138160" y="3108960"/>
            <a:ext cx="3566160" cy="2377440"/>
          </a:xfrm>
          <a:prstGeom prst="roundRect">
            <a:avLst>
              <a:gd name="adj" fmla="val 4615"/>
            </a:avLst>
          </a:prstGeom>
          <a:solidFill>
            <a:srgbClr val="16324A"/>
          </a:solidFill>
          <a:ln w="12700">
            <a:solidFill>
              <a:srgbClr val="2A455C"/>
            </a:solidFill>
            <a:prstDash val="solid"/>
          </a:ln>
        </p:spPr>
      </p:sp>
      <p:sp>
        <p:nvSpPr>
          <p:cNvPr id="14" name="Shape 12"/>
          <p:cNvSpPr/>
          <p:nvPr/>
        </p:nvSpPr>
        <p:spPr>
          <a:xfrm>
            <a:off x="8138160" y="3108960"/>
            <a:ext cx="3566160" cy="2377440"/>
          </a:xfrm>
          <a:prstGeom prst="roundRect">
            <a:avLst>
              <a:gd name="adj" fmla="val 4615"/>
            </a:avLst>
          </a:prstGeom>
          <a:solidFill>
            <a:srgbClr val="0F3D3A"/>
          </a:solidFill>
          <a:ln w="12700">
            <a:solidFill>
              <a:srgbClr val="2DD4BF"/>
            </a:solidFill>
            <a:prstDash val="solid"/>
          </a:ln>
        </p:spPr>
      </p:sp>
      <p:sp>
        <p:nvSpPr>
          <p:cNvPr id="15" name="Text 13"/>
          <p:cNvSpPr/>
          <p:nvPr/>
        </p:nvSpPr>
        <p:spPr>
          <a:xfrm>
            <a:off x="8366760" y="3383280"/>
            <a:ext cx="3108960" cy="457200"/>
          </a:xfrm>
          <a:prstGeom prst="rect">
            <a:avLst/>
          </a:prstGeom>
          <a:noFill/>
          <a:ln/>
        </p:spPr>
        <p:txBody>
          <a:bodyPr wrap="square" lIns="0" tIns="0" rIns="0" bIns="0" rtlCol="0" anchor="ctr"/>
          <a:lstStyle/>
          <a:p>
            <a:pPr marL="0" indent="0">
              <a:buNone/>
            </a:pPr>
            <a:r>
              <a:rPr lang="en-US" sz="1600" dirty="0">
                <a:solidFill>
                  <a:srgbClr val="2DD4BF"/>
                </a:solidFill>
                <a:latin typeface="Georgia" pitchFamily="34" charset="0"/>
                <a:ea typeface="Georgia" pitchFamily="34" charset="-122"/>
                <a:cs typeface="Georgia" pitchFamily="34" charset="-120"/>
              </a:rPr>
              <a:t>EduNudg</a:t>
            </a:r>
            <a:endParaRPr lang="en-US" sz="1600" dirty="0"/>
          </a:p>
        </p:txBody>
      </p:sp>
      <p:sp>
        <p:nvSpPr>
          <p:cNvPr id="16" name="Text 14"/>
          <p:cNvSpPr/>
          <p:nvPr/>
        </p:nvSpPr>
        <p:spPr>
          <a:xfrm>
            <a:off x="8366760" y="4023360"/>
            <a:ext cx="3108960" cy="109728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Built for Brand → Center → Student. White-label. One source of truth.</a:t>
            </a:r>
            <a:endParaRPr lang="en-US" sz="1400" dirty="0"/>
          </a:p>
        </p:txBody>
      </p:sp>
      <p:sp>
        <p:nvSpPr>
          <p:cNvPr id="17" name="Text 15"/>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18" name="Text 16"/>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THE SOLUTION</a:t>
            </a:r>
            <a:endParaRPr lang="en-US" sz="1200" dirty="0"/>
          </a:p>
        </p:txBody>
      </p:sp>
      <p:sp>
        <p:nvSpPr>
          <p:cNvPr id="5" name="Text 3"/>
          <p:cNvSpPr/>
          <p:nvPr/>
        </p:nvSpPr>
        <p:spPr>
          <a:xfrm>
            <a:off x="640080" y="685800"/>
            <a:ext cx="10972800" cy="502920"/>
          </a:xfrm>
          <a:prstGeom prst="rect">
            <a:avLst/>
          </a:prstGeom>
          <a:noFill/>
          <a:ln/>
        </p:spPr>
        <p:txBody>
          <a:bodyPr wrap="square" lIns="0" tIns="0" rIns="0" bIns="0" rtlCol="0" anchor="ctr"/>
          <a:lstStyle/>
          <a:p>
            <a:pPr marL="0" indent="0">
              <a:buNone/>
            </a:pPr>
            <a:r>
              <a:rPr lang="en-US" sz="2800" dirty="0">
                <a:solidFill>
                  <a:srgbClr val="F4F7FA"/>
                </a:solidFill>
                <a:latin typeface="Georgia" pitchFamily="34" charset="0"/>
                <a:ea typeface="Georgia" pitchFamily="34" charset="-122"/>
                <a:cs typeface="Georgia" pitchFamily="34" charset="-120"/>
              </a:rPr>
              <a:t>One system. Your brand. Every center.</a:t>
            </a:r>
            <a:endParaRPr lang="en-US" sz="2800" dirty="0"/>
          </a:p>
        </p:txBody>
      </p:sp>
      <p:sp>
        <p:nvSpPr>
          <p:cNvPr id="6" name="Shape 4"/>
          <p:cNvSpPr/>
          <p:nvPr/>
        </p:nvSpPr>
        <p:spPr>
          <a:xfrm>
            <a:off x="502920" y="1554480"/>
            <a:ext cx="2743200" cy="4114800"/>
          </a:xfrm>
          <a:prstGeom prst="roundRect">
            <a:avLst>
              <a:gd name="adj" fmla="val 4000"/>
            </a:avLst>
          </a:prstGeom>
          <a:solidFill>
            <a:srgbClr val="16324A"/>
          </a:solidFill>
          <a:ln w="12700">
            <a:solidFill>
              <a:srgbClr val="2A455C"/>
            </a:solidFill>
            <a:prstDash val="solid"/>
          </a:ln>
        </p:spPr>
      </p:sp>
      <p:sp>
        <p:nvSpPr>
          <p:cNvPr id="7" name="Text 5"/>
          <p:cNvSpPr/>
          <p:nvPr/>
        </p:nvSpPr>
        <p:spPr>
          <a:xfrm>
            <a:off x="731520" y="1828800"/>
            <a:ext cx="2286000" cy="411480"/>
          </a:xfrm>
          <a:prstGeom prst="rect">
            <a:avLst/>
          </a:prstGeom>
          <a:noFill/>
          <a:ln/>
        </p:spPr>
        <p:txBody>
          <a:bodyPr wrap="square" lIns="0" tIns="0" rIns="0" bIns="0" rtlCol="0" anchor="ctr"/>
          <a:lstStyle/>
          <a:p>
            <a:pPr marL="0" indent="0">
              <a:buNone/>
            </a:pPr>
            <a:r>
              <a:rPr lang="en-US" sz="2200" dirty="0">
                <a:solidFill>
                  <a:srgbClr val="2DD4BF"/>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731520" y="2468880"/>
            <a:ext cx="2286000" cy="457200"/>
          </a:xfrm>
          <a:prstGeom prst="rect">
            <a:avLst/>
          </a:prstGeom>
          <a:noFill/>
          <a:ln/>
        </p:spPr>
        <p:txBody>
          <a:bodyPr wrap="square" lIns="0" tIns="0" rIns="0" bIns="0" rtlCol="0" anchor="ctr"/>
          <a:lstStyle/>
          <a:p>
            <a:pPr marL="0" indent="0">
              <a:buNone/>
            </a:pPr>
            <a:r>
              <a:rPr lang="en-US" sz="2200" dirty="0">
                <a:solidFill>
                  <a:srgbClr val="F4F7FA"/>
                </a:solidFill>
                <a:latin typeface="Georgia" pitchFamily="34" charset="0"/>
                <a:ea typeface="Georgia" pitchFamily="34" charset="-122"/>
                <a:cs typeface="Georgia" pitchFamily="34" charset="-120"/>
              </a:rPr>
              <a:t>Acquire</a:t>
            </a:r>
            <a:endParaRPr lang="en-US" sz="2200" dirty="0"/>
          </a:p>
        </p:txBody>
      </p:sp>
      <p:sp>
        <p:nvSpPr>
          <p:cNvPr id="9" name="Text 7"/>
          <p:cNvSpPr/>
          <p:nvPr/>
        </p:nvSpPr>
        <p:spPr>
          <a:xfrm>
            <a:off x="731520" y="3200400"/>
            <a:ext cx="2286000" cy="182880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Branded website + lead pipeline so every inquiry has an owner.</a:t>
            </a:r>
            <a:endParaRPr lang="en-US" sz="1400" dirty="0"/>
          </a:p>
        </p:txBody>
      </p:sp>
      <p:sp>
        <p:nvSpPr>
          <p:cNvPr id="10" name="Shape 8"/>
          <p:cNvSpPr/>
          <p:nvPr/>
        </p:nvSpPr>
        <p:spPr>
          <a:xfrm>
            <a:off x="3383280" y="1554480"/>
            <a:ext cx="2743200" cy="4114800"/>
          </a:xfrm>
          <a:prstGeom prst="roundRect">
            <a:avLst>
              <a:gd name="adj" fmla="val 4000"/>
            </a:avLst>
          </a:prstGeom>
          <a:solidFill>
            <a:srgbClr val="16324A"/>
          </a:solidFill>
          <a:ln w="12700">
            <a:solidFill>
              <a:srgbClr val="2A455C"/>
            </a:solidFill>
            <a:prstDash val="solid"/>
          </a:ln>
        </p:spPr>
      </p:sp>
      <p:sp>
        <p:nvSpPr>
          <p:cNvPr id="11" name="Text 9"/>
          <p:cNvSpPr/>
          <p:nvPr/>
        </p:nvSpPr>
        <p:spPr>
          <a:xfrm>
            <a:off x="3611880" y="1828800"/>
            <a:ext cx="2286000" cy="411480"/>
          </a:xfrm>
          <a:prstGeom prst="rect">
            <a:avLst/>
          </a:prstGeom>
          <a:noFill/>
          <a:ln/>
        </p:spPr>
        <p:txBody>
          <a:bodyPr wrap="square" lIns="0" tIns="0" rIns="0" bIns="0" rtlCol="0" anchor="ctr"/>
          <a:lstStyle/>
          <a:p>
            <a:pPr marL="0" indent="0">
              <a:buNone/>
            </a:pPr>
            <a:r>
              <a:rPr lang="en-US" sz="2200" dirty="0">
                <a:solidFill>
                  <a:srgbClr val="2DD4BF"/>
                </a:solidFill>
                <a:latin typeface="Georgia" pitchFamily="34" charset="0"/>
                <a:ea typeface="Georgia" pitchFamily="34" charset="-122"/>
                <a:cs typeface="Georgia" pitchFamily="34" charset="-120"/>
              </a:rPr>
              <a:t>02</a:t>
            </a:r>
            <a:endParaRPr lang="en-US" sz="2200" dirty="0"/>
          </a:p>
        </p:txBody>
      </p:sp>
      <p:sp>
        <p:nvSpPr>
          <p:cNvPr id="12" name="Text 10"/>
          <p:cNvSpPr/>
          <p:nvPr/>
        </p:nvSpPr>
        <p:spPr>
          <a:xfrm>
            <a:off x="3611880" y="2468880"/>
            <a:ext cx="2286000" cy="457200"/>
          </a:xfrm>
          <a:prstGeom prst="rect">
            <a:avLst/>
          </a:prstGeom>
          <a:noFill/>
          <a:ln/>
        </p:spPr>
        <p:txBody>
          <a:bodyPr wrap="square" lIns="0" tIns="0" rIns="0" bIns="0" rtlCol="0" anchor="ctr"/>
          <a:lstStyle/>
          <a:p>
            <a:pPr marL="0" indent="0">
              <a:buNone/>
            </a:pPr>
            <a:r>
              <a:rPr lang="en-US" sz="2200" dirty="0">
                <a:solidFill>
                  <a:srgbClr val="F4F7FA"/>
                </a:solidFill>
                <a:latin typeface="Georgia" pitchFamily="34" charset="0"/>
                <a:ea typeface="Georgia" pitchFamily="34" charset="-122"/>
                <a:cs typeface="Georgia" pitchFamily="34" charset="-120"/>
              </a:rPr>
              <a:t>Operate</a:t>
            </a:r>
            <a:endParaRPr lang="en-US" sz="2200" dirty="0"/>
          </a:p>
        </p:txBody>
      </p:sp>
      <p:sp>
        <p:nvSpPr>
          <p:cNvPr id="13" name="Text 11"/>
          <p:cNvSpPr/>
          <p:nvPr/>
        </p:nvSpPr>
        <p:spPr>
          <a:xfrm>
            <a:off x="3611880" y="3200400"/>
            <a:ext cx="2286000" cy="182880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Franchise control, center front desk, fees, inventory, analytics.</a:t>
            </a:r>
            <a:endParaRPr lang="en-US" sz="1400" dirty="0"/>
          </a:p>
        </p:txBody>
      </p:sp>
      <p:sp>
        <p:nvSpPr>
          <p:cNvPr id="14" name="Shape 12"/>
          <p:cNvSpPr/>
          <p:nvPr/>
        </p:nvSpPr>
        <p:spPr>
          <a:xfrm>
            <a:off x="6263640" y="1554480"/>
            <a:ext cx="2743200" cy="4114800"/>
          </a:xfrm>
          <a:prstGeom prst="roundRect">
            <a:avLst>
              <a:gd name="adj" fmla="val 4000"/>
            </a:avLst>
          </a:prstGeom>
          <a:solidFill>
            <a:srgbClr val="16324A"/>
          </a:solidFill>
          <a:ln w="12700">
            <a:solidFill>
              <a:srgbClr val="2A455C"/>
            </a:solidFill>
            <a:prstDash val="solid"/>
          </a:ln>
        </p:spPr>
      </p:sp>
      <p:sp>
        <p:nvSpPr>
          <p:cNvPr id="15" name="Text 13"/>
          <p:cNvSpPr/>
          <p:nvPr/>
        </p:nvSpPr>
        <p:spPr>
          <a:xfrm>
            <a:off x="6492240" y="1828800"/>
            <a:ext cx="2286000" cy="411480"/>
          </a:xfrm>
          <a:prstGeom prst="rect">
            <a:avLst/>
          </a:prstGeom>
          <a:noFill/>
          <a:ln/>
        </p:spPr>
        <p:txBody>
          <a:bodyPr wrap="square" lIns="0" tIns="0" rIns="0" bIns="0" rtlCol="0" anchor="ctr"/>
          <a:lstStyle/>
          <a:p>
            <a:pPr marL="0" indent="0">
              <a:buNone/>
            </a:pPr>
            <a:r>
              <a:rPr lang="en-US" sz="2200" dirty="0">
                <a:solidFill>
                  <a:srgbClr val="2DD4BF"/>
                </a:solidFill>
                <a:latin typeface="Georgia" pitchFamily="34" charset="0"/>
                <a:ea typeface="Georgia" pitchFamily="34" charset="-122"/>
                <a:cs typeface="Georgia" pitchFamily="34" charset="-120"/>
              </a:rPr>
              <a:t>03</a:t>
            </a:r>
            <a:endParaRPr lang="en-US" sz="2200" dirty="0"/>
          </a:p>
        </p:txBody>
      </p:sp>
      <p:sp>
        <p:nvSpPr>
          <p:cNvPr id="16" name="Text 14"/>
          <p:cNvSpPr/>
          <p:nvPr/>
        </p:nvSpPr>
        <p:spPr>
          <a:xfrm>
            <a:off x="6492240" y="2468880"/>
            <a:ext cx="2286000" cy="457200"/>
          </a:xfrm>
          <a:prstGeom prst="rect">
            <a:avLst/>
          </a:prstGeom>
          <a:noFill/>
          <a:ln/>
        </p:spPr>
        <p:txBody>
          <a:bodyPr wrap="square" lIns="0" tIns="0" rIns="0" bIns="0" rtlCol="0" anchor="ctr"/>
          <a:lstStyle/>
          <a:p>
            <a:pPr marL="0" indent="0">
              <a:buNone/>
            </a:pPr>
            <a:r>
              <a:rPr lang="en-US" sz="2200" dirty="0">
                <a:solidFill>
                  <a:srgbClr val="F4F7FA"/>
                </a:solidFill>
                <a:latin typeface="Georgia" pitchFamily="34" charset="0"/>
                <a:ea typeface="Georgia" pitchFamily="34" charset="-122"/>
                <a:cs typeface="Georgia" pitchFamily="34" charset="-120"/>
              </a:rPr>
              <a:t>Teach</a:t>
            </a:r>
            <a:endParaRPr lang="en-US" sz="2200" dirty="0"/>
          </a:p>
        </p:txBody>
      </p:sp>
      <p:sp>
        <p:nvSpPr>
          <p:cNvPr id="17" name="Text 15"/>
          <p:cNvSpPr/>
          <p:nvPr/>
        </p:nvSpPr>
        <p:spPr>
          <a:xfrm>
            <a:off x="6492240" y="3200400"/>
            <a:ext cx="2286000" cy="182880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Shared curriculum + student learning portal after enrollment.</a:t>
            </a:r>
            <a:endParaRPr lang="en-US" sz="1400" dirty="0"/>
          </a:p>
        </p:txBody>
      </p:sp>
      <p:sp>
        <p:nvSpPr>
          <p:cNvPr id="18" name="Shape 16"/>
          <p:cNvSpPr/>
          <p:nvPr/>
        </p:nvSpPr>
        <p:spPr>
          <a:xfrm>
            <a:off x="9144000" y="1554480"/>
            <a:ext cx="2743200" cy="4114800"/>
          </a:xfrm>
          <a:prstGeom prst="roundRect">
            <a:avLst>
              <a:gd name="adj" fmla="val 4000"/>
            </a:avLst>
          </a:prstGeom>
          <a:solidFill>
            <a:srgbClr val="16324A"/>
          </a:solidFill>
          <a:ln w="12700">
            <a:solidFill>
              <a:srgbClr val="2A455C"/>
            </a:solidFill>
            <a:prstDash val="solid"/>
          </a:ln>
        </p:spPr>
      </p:sp>
      <p:sp>
        <p:nvSpPr>
          <p:cNvPr id="19" name="Text 17"/>
          <p:cNvSpPr/>
          <p:nvPr/>
        </p:nvSpPr>
        <p:spPr>
          <a:xfrm>
            <a:off x="9372600" y="1828800"/>
            <a:ext cx="2286000" cy="411480"/>
          </a:xfrm>
          <a:prstGeom prst="rect">
            <a:avLst/>
          </a:prstGeom>
          <a:noFill/>
          <a:ln/>
        </p:spPr>
        <p:txBody>
          <a:bodyPr wrap="square" lIns="0" tIns="0" rIns="0" bIns="0" rtlCol="0" anchor="ctr"/>
          <a:lstStyle/>
          <a:p>
            <a:pPr marL="0" indent="0">
              <a:buNone/>
            </a:pPr>
            <a:r>
              <a:rPr lang="en-US" sz="2200" dirty="0">
                <a:solidFill>
                  <a:srgbClr val="2DD4BF"/>
                </a:solidFill>
                <a:latin typeface="Georgia" pitchFamily="34" charset="0"/>
                <a:ea typeface="Georgia" pitchFamily="34" charset="-122"/>
                <a:cs typeface="Georgia" pitchFamily="34" charset="-120"/>
              </a:rPr>
              <a:t>04</a:t>
            </a:r>
            <a:endParaRPr lang="en-US" sz="2200" dirty="0"/>
          </a:p>
        </p:txBody>
      </p:sp>
      <p:sp>
        <p:nvSpPr>
          <p:cNvPr id="20" name="Text 18"/>
          <p:cNvSpPr/>
          <p:nvPr/>
        </p:nvSpPr>
        <p:spPr>
          <a:xfrm>
            <a:off x="9372600" y="2468880"/>
            <a:ext cx="2286000" cy="457200"/>
          </a:xfrm>
          <a:prstGeom prst="rect">
            <a:avLst/>
          </a:prstGeom>
          <a:noFill/>
          <a:ln/>
        </p:spPr>
        <p:txBody>
          <a:bodyPr wrap="square" lIns="0" tIns="0" rIns="0" bIns="0" rtlCol="0" anchor="ctr"/>
          <a:lstStyle/>
          <a:p>
            <a:pPr marL="0" indent="0">
              <a:buNone/>
            </a:pPr>
            <a:r>
              <a:rPr lang="en-US" sz="2200" dirty="0">
                <a:solidFill>
                  <a:srgbClr val="F4F7FA"/>
                </a:solidFill>
                <a:latin typeface="Georgia" pitchFamily="34" charset="0"/>
                <a:ea typeface="Georgia" pitchFamily="34" charset="-122"/>
                <a:cs typeface="Georgia" pitchFamily="34" charset="-120"/>
              </a:rPr>
              <a:t>Grow</a:t>
            </a:r>
            <a:endParaRPr lang="en-US" sz="2200" dirty="0"/>
          </a:p>
        </p:txBody>
      </p:sp>
      <p:sp>
        <p:nvSpPr>
          <p:cNvPr id="21" name="Text 19"/>
          <p:cNvSpPr/>
          <p:nvPr/>
        </p:nvSpPr>
        <p:spPr>
          <a:xfrm>
            <a:off x="9372600" y="3200400"/>
            <a:ext cx="2286000" cy="182880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Merchandise, competitions, batches — switch on when ready.</a:t>
            </a:r>
            <a:endParaRPr lang="en-US" sz="1400" dirty="0"/>
          </a:p>
        </p:txBody>
      </p:sp>
      <p:sp>
        <p:nvSpPr>
          <p:cNvPr id="22" name="Text 20"/>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3" name="Text 2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0633"/>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800" dirty="0">
                <a:solidFill>
                  <a:srgbClr val="F4F7FA"/>
                </a:solidFill>
                <a:latin typeface="Georgia" pitchFamily="34" charset="0"/>
                <a:ea typeface="Georgia" pitchFamily="34" charset="-122"/>
                <a:cs typeface="Georgia" pitchFamily="34" charset="-120"/>
              </a:rPr>
              <a:t>The power of three — one source of truth.</a:t>
            </a:r>
            <a:endParaRPr lang="en-US" sz="2800" dirty="0"/>
          </a:p>
        </p:txBody>
      </p:sp>
      <p:sp>
        <p:nvSpPr>
          <p:cNvPr id="6" name="Shape 4"/>
          <p:cNvSpPr/>
          <p:nvPr/>
        </p:nvSpPr>
        <p:spPr>
          <a:xfrm>
            <a:off x="640080" y="1371600"/>
            <a:ext cx="10881360" cy="1371600"/>
          </a:xfrm>
          <a:prstGeom prst="roundRect">
            <a:avLst>
              <a:gd name="adj" fmla="val 8000"/>
            </a:avLst>
          </a:prstGeom>
          <a:solidFill>
            <a:srgbClr val="16324A"/>
          </a:solidFill>
          <a:ln w="12700">
            <a:solidFill>
              <a:srgbClr val="2A455C"/>
            </a:solidFill>
            <a:prstDash val="solid"/>
          </a:ln>
        </p:spPr>
      </p:sp>
      <p:sp>
        <p:nvSpPr>
          <p:cNvPr id="7" name="Shape 5"/>
          <p:cNvSpPr/>
          <p:nvPr/>
        </p:nvSpPr>
        <p:spPr>
          <a:xfrm>
            <a:off x="868680" y="1691640"/>
            <a:ext cx="502920" cy="731520"/>
          </a:xfrm>
          <a:prstGeom prst="roundRect">
            <a:avLst>
              <a:gd name="adj" fmla="val 18182"/>
            </a:avLst>
          </a:prstGeom>
          <a:solidFill>
            <a:srgbClr val="0D9488"/>
          </a:solidFill>
          <a:ln w="12700">
            <a:solidFill>
              <a:srgbClr val="0D9488"/>
            </a:solidFill>
            <a:prstDash val="solid"/>
          </a:ln>
        </p:spPr>
      </p:sp>
      <p:sp>
        <p:nvSpPr>
          <p:cNvPr id="8" name="Text 6"/>
          <p:cNvSpPr/>
          <p:nvPr/>
        </p:nvSpPr>
        <p:spPr>
          <a:xfrm>
            <a:off x="868680" y="1691640"/>
            <a:ext cx="5029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645920" y="1600200"/>
            <a:ext cx="4572000" cy="36576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Brand</a:t>
            </a:r>
            <a:endParaRPr lang="en-US" sz="2000" dirty="0"/>
          </a:p>
        </p:txBody>
      </p:sp>
      <p:sp>
        <p:nvSpPr>
          <p:cNvPr id="10" name="Text 8"/>
          <p:cNvSpPr/>
          <p:nvPr/>
        </p:nvSpPr>
        <p:spPr>
          <a:xfrm>
            <a:off x="1645920" y="2011680"/>
            <a:ext cx="3657600" cy="320040"/>
          </a:xfrm>
          <a:prstGeom prst="rect">
            <a:avLst/>
          </a:prstGeom>
          <a:noFill/>
          <a:ln/>
        </p:spPr>
        <p:txBody>
          <a:bodyPr wrap="square" lIns="0" tIns="0" rIns="0" bIns="0" rtlCol="0" anchor="ctr"/>
          <a:lstStyle/>
          <a:p>
            <a:pPr marL="0" indent="0">
              <a:buNone/>
            </a:pPr>
            <a:r>
              <a:rPr lang="en-US" sz="1300" dirty="0">
                <a:solidFill>
                  <a:srgbClr val="2DD4BF"/>
                </a:solidFill>
                <a:latin typeface="Calibri" pitchFamily="34" charset="0"/>
                <a:ea typeface="Calibri" pitchFamily="34" charset="-122"/>
                <a:cs typeface="Calibri" pitchFamily="34" charset="-120"/>
              </a:rPr>
              <a:t>Franchisor / institute network</a:t>
            </a:r>
            <a:endParaRPr lang="en-US" sz="1300" dirty="0"/>
          </a:p>
        </p:txBody>
      </p:sp>
      <p:sp>
        <p:nvSpPr>
          <p:cNvPr id="11" name="Text 9"/>
          <p:cNvSpPr/>
          <p:nvPr/>
        </p:nvSpPr>
        <p:spPr>
          <a:xfrm>
            <a:off x="5943600" y="1783080"/>
            <a:ext cx="5212080" cy="5486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Website · Leads · Franchises · Curriculum · Analytics · Billing</a:t>
            </a:r>
            <a:endParaRPr lang="en-US" sz="1400" dirty="0"/>
          </a:p>
        </p:txBody>
      </p:sp>
      <p:sp>
        <p:nvSpPr>
          <p:cNvPr id="12" name="Shape 10"/>
          <p:cNvSpPr/>
          <p:nvPr/>
        </p:nvSpPr>
        <p:spPr>
          <a:xfrm>
            <a:off x="640080" y="2880360"/>
            <a:ext cx="10881360" cy="1371600"/>
          </a:xfrm>
          <a:prstGeom prst="roundRect">
            <a:avLst>
              <a:gd name="adj" fmla="val 8000"/>
            </a:avLst>
          </a:prstGeom>
          <a:solidFill>
            <a:srgbClr val="16324A"/>
          </a:solidFill>
          <a:ln w="12700">
            <a:solidFill>
              <a:srgbClr val="2A455C"/>
            </a:solidFill>
            <a:prstDash val="solid"/>
          </a:ln>
        </p:spPr>
      </p:sp>
      <p:sp>
        <p:nvSpPr>
          <p:cNvPr id="13" name="Shape 11"/>
          <p:cNvSpPr/>
          <p:nvPr/>
        </p:nvSpPr>
        <p:spPr>
          <a:xfrm>
            <a:off x="868680" y="3200400"/>
            <a:ext cx="502920" cy="731520"/>
          </a:xfrm>
          <a:prstGeom prst="roundRect">
            <a:avLst>
              <a:gd name="adj" fmla="val 18182"/>
            </a:avLst>
          </a:prstGeom>
          <a:solidFill>
            <a:srgbClr val="0D9488"/>
          </a:solidFill>
          <a:ln w="12700">
            <a:solidFill>
              <a:srgbClr val="0D9488"/>
            </a:solidFill>
            <a:prstDash val="solid"/>
          </a:ln>
        </p:spPr>
      </p:sp>
      <p:sp>
        <p:nvSpPr>
          <p:cNvPr id="14" name="Text 12"/>
          <p:cNvSpPr/>
          <p:nvPr/>
        </p:nvSpPr>
        <p:spPr>
          <a:xfrm>
            <a:off x="868680" y="3200400"/>
            <a:ext cx="5029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5" name="Text 13"/>
          <p:cNvSpPr/>
          <p:nvPr/>
        </p:nvSpPr>
        <p:spPr>
          <a:xfrm>
            <a:off x="1645920" y="3108960"/>
            <a:ext cx="4572000" cy="36576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Center / Franchise</a:t>
            </a:r>
            <a:endParaRPr lang="en-US" sz="2000" dirty="0"/>
          </a:p>
        </p:txBody>
      </p:sp>
      <p:sp>
        <p:nvSpPr>
          <p:cNvPr id="16" name="Text 14"/>
          <p:cNvSpPr/>
          <p:nvPr/>
        </p:nvSpPr>
        <p:spPr>
          <a:xfrm>
            <a:off x="1645920" y="3520440"/>
            <a:ext cx="3657600" cy="320040"/>
          </a:xfrm>
          <a:prstGeom prst="rect">
            <a:avLst/>
          </a:prstGeom>
          <a:noFill/>
          <a:ln/>
        </p:spPr>
        <p:txBody>
          <a:bodyPr wrap="square" lIns="0" tIns="0" rIns="0" bIns="0" rtlCol="0" anchor="ctr"/>
          <a:lstStyle/>
          <a:p>
            <a:pPr marL="0" indent="0">
              <a:buNone/>
            </a:pPr>
            <a:r>
              <a:rPr lang="en-US" sz="1300" dirty="0">
                <a:solidFill>
                  <a:srgbClr val="2DD4BF"/>
                </a:solidFill>
                <a:latin typeface="Calibri" pitchFamily="34" charset="0"/>
                <a:ea typeface="Calibri" pitchFamily="34" charset="-122"/>
                <a:cs typeface="Calibri" pitchFamily="34" charset="-120"/>
              </a:rPr>
              <a:t>Each location’s front desk</a:t>
            </a:r>
            <a:endParaRPr lang="en-US" sz="1300" dirty="0"/>
          </a:p>
        </p:txBody>
      </p:sp>
      <p:sp>
        <p:nvSpPr>
          <p:cNvPr id="17" name="Text 15"/>
          <p:cNvSpPr/>
          <p:nvPr/>
        </p:nvSpPr>
        <p:spPr>
          <a:xfrm>
            <a:off x="5943600" y="3291840"/>
            <a:ext cx="5212080" cy="5486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Assigned leads · Students · Fees · Inventory · Local site</a:t>
            </a:r>
            <a:endParaRPr lang="en-US" sz="1400" dirty="0"/>
          </a:p>
        </p:txBody>
      </p:sp>
      <p:sp>
        <p:nvSpPr>
          <p:cNvPr id="18" name="Shape 16"/>
          <p:cNvSpPr/>
          <p:nvPr/>
        </p:nvSpPr>
        <p:spPr>
          <a:xfrm>
            <a:off x="640080" y="4389120"/>
            <a:ext cx="10881360" cy="1371600"/>
          </a:xfrm>
          <a:prstGeom prst="roundRect">
            <a:avLst>
              <a:gd name="adj" fmla="val 8000"/>
            </a:avLst>
          </a:prstGeom>
          <a:solidFill>
            <a:srgbClr val="16324A"/>
          </a:solidFill>
          <a:ln w="12700">
            <a:solidFill>
              <a:srgbClr val="2A455C"/>
            </a:solidFill>
            <a:prstDash val="solid"/>
          </a:ln>
        </p:spPr>
      </p:sp>
      <p:sp>
        <p:nvSpPr>
          <p:cNvPr id="19" name="Shape 17"/>
          <p:cNvSpPr/>
          <p:nvPr/>
        </p:nvSpPr>
        <p:spPr>
          <a:xfrm>
            <a:off x="868680" y="4709160"/>
            <a:ext cx="502920" cy="731520"/>
          </a:xfrm>
          <a:prstGeom prst="roundRect">
            <a:avLst>
              <a:gd name="adj" fmla="val 18182"/>
            </a:avLst>
          </a:prstGeom>
          <a:solidFill>
            <a:srgbClr val="0D9488"/>
          </a:solidFill>
          <a:ln w="12700">
            <a:solidFill>
              <a:srgbClr val="0D9488"/>
            </a:solidFill>
            <a:prstDash val="solid"/>
          </a:ln>
        </p:spPr>
      </p:sp>
      <p:sp>
        <p:nvSpPr>
          <p:cNvPr id="20" name="Text 18"/>
          <p:cNvSpPr/>
          <p:nvPr/>
        </p:nvSpPr>
        <p:spPr>
          <a:xfrm>
            <a:off x="868680" y="4709160"/>
            <a:ext cx="5029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1" name="Text 19"/>
          <p:cNvSpPr/>
          <p:nvPr/>
        </p:nvSpPr>
        <p:spPr>
          <a:xfrm>
            <a:off x="1645920" y="4617720"/>
            <a:ext cx="4572000" cy="36576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Student / Family</a:t>
            </a:r>
            <a:endParaRPr lang="en-US" sz="2000" dirty="0"/>
          </a:p>
        </p:txBody>
      </p:sp>
      <p:sp>
        <p:nvSpPr>
          <p:cNvPr id="22" name="Text 20"/>
          <p:cNvSpPr/>
          <p:nvPr/>
        </p:nvSpPr>
        <p:spPr>
          <a:xfrm>
            <a:off x="1645920" y="5029200"/>
            <a:ext cx="3657600" cy="320040"/>
          </a:xfrm>
          <a:prstGeom prst="rect">
            <a:avLst/>
          </a:prstGeom>
          <a:noFill/>
          <a:ln/>
        </p:spPr>
        <p:txBody>
          <a:bodyPr wrap="square" lIns="0" tIns="0" rIns="0" bIns="0" rtlCol="0" anchor="ctr"/>
          <a:lstStyle/>
          <a:p>
            <a:pPr marL="0" indent="0">
              <a:buNone/>
            </a:pPr>
            <a:r>
              <a:rPr lang="en-US" sz="1300" dirty="0">
                <a:solidFill>
                  <a:srgbClr val="2DD4BF"/>
                </a:solidFill>
                <a:latin typeface="Calibri" pitchFamily="34" charset="0"/>
                <a:ea typeface="Calibri" pitchFamily="34" charset="-122"/>
                <a:cs typeface="Calibri" pitchFamily="34" charset="-120"/>
              </a:rPr>
              <a:t>After enrollment</a:t>
            </a:r>
            <a:endParaRPr lang="en-US" sz="1300" dirty="0"/>
          </a:p>
        </p:txBody>
      </p:sp>
      <p:sp>
        <p:nvSpPr>
          <p:cNvPr id="23" name="Text 21"/>
          <p:cNvSpPr/>
          <p:nvPr/>
        </p:nvSpPr>
        <p:spPr>
          <a:xfrm>
            <a:off x="5943600" y="4800600"/>
            <a:ext cx="5212080" cy="5486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Learn portal · Progress · Events · Profile · Center link</a:t>
            </a:r>
            <a:endParaRPr lang="en-US" sz="1400" dirty="0"/>
          </a:p>
        </p:txBody>
      </p:sp>
      <p:sp>
        <p:nvSpPr>
          <p:cNvPr id="24" name="Text 22"/>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5" name="Text 23"/>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01  ·  ACQUIRE</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600" dirty="0">
                <a:solidFill>
                  <a:srgbClr val="F4F7FA"/>
                </a:solidFill>
                <a:latin typeface="Georgia" pitchFamily="34" charset="0"/>
                <a:ea typeface="Georgia" pitchFamily="34" charset="-122"/>
                <a:cs typeface="Georgia" pitchFamily="34" charset="-120"/>
              </a:rPr>
              <a:t>Students meet your institute — not software.</a:t>
            </a:r>
            <a:endParaRPr lang="en-US" sz="2600" dirty="0"/>
          </a:p>
        </p:txBody>
      </p:sp>
      <p:sp>
        <p:nvSpPr>
          <p:cNvPr id="6" name="Shape 4"/>
          <p:cNvSpPr/>
          <p:nvPr/>
        </p:nvSpPr>
        <p:spPr>
          <a:xfrm>
            <a:off x="502920" y="1371600"/>
            <a:ext cx="5486400" cy="4663440"/>
          </a:xfrm>
          <a:prstGeom prst="roundRect">
            <a:avLst>
              <a:gd name="adj" fmla="val 2353"/>
            </a:avLst>
          </a:prstGeom>
          <a:solidFill>
            <a:srgbClr val="16324A"/>
          </a:solidFill>
          <a:ln w="12700">
            <a:solidFill>
              <a:srgbClr val="2A455C"/>
            </a:solidFill>
            <a:prstDash val="solid"/>
          </a:ln>
        </p:spPr>
      </p:sp>
      <p:sp>
        <p:nvSpPr>
          <p:cNvPr id="7" name="Text 5"/>
          <p:cNvSpPr/>
          <p:nvPr/>
        </p:nvSpPr>
        <p:spPr>
          <a:xfrm>
            <a:off x="777240" y="1600200"/>
            <a:ext cx="4937760" cy="365760"/>
          </a:xfrm>
          <a:prstGeom prst="rect">
            <a:avLst/>
          </a:prstGeom>
          <a:noFill/>
          <a:ln/>
        </p:spPr>
        <p:txBody>
          <a:bodyPr wrap="square" lIns="0" tIns="0" rIns="0" bIns="0" rtlCol="0" anchor="ctr"/>
          <a:lstStyle/>
          <a:p>
            <a:pPr marL="0" indent="0">
              <a:buNone/>
            </a:pPr>
            <a:r>
              <a:rPr lang="en-US" sz="1600" dirty="0">
                <a:solidFill>
                  <a:srgbClr val="2DD4BF"/>
                </a:solidFill>
                <a:latin typeface="Georgia" pitchFamily="34" charset="0"/>
                <a:ea typeface="Georgia" pitchFamily="34" charset="-122"/>
                <a:cs typeface="Georgia" pitchFamily="34" charset="-120"/>
              </a:rPr>
              <a:t>Your public brand</a:t>
            </a:r>
            <a:endParaRPr lang="en-US" sz="1600" dirty="0"/>
          </a:p>
        </p:txBody>
      </p:sp>
      <p:sp>
        <p:nvSpPr>
          <p:cNvPr id="8" name="Text 6"/>
          <p:cNvSpPr/>
          <p:nvPr/>
        </p:nvSpPr>
        <p:spPr>
          <a:xfrm>
            <a:off x="777240" y="214884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White-label brand website</a:t>
            </a:r>
            <a:endParaRPr lang="en-US" sz="1500" dirty="0"/>
          </a:p>
        </p:txBody>
      </p:sp>
      <p:sp>
        <p:nvSpPr>
          <p:cNvPr id="9" name="Text 7"/>
          <p:cNvSpPr/>
          <p:nvPr/>
        </p:nvSpPr>
        <p:spPr>
          <a:xfrm>
            <a:off x="777240" y="244144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Hero, courses, mentors, stories, events, FAQ — your look.</a:t>
            </a:r>
            <a:endParaRPr lang="en-US" sz="1300" dirty="0"/>
          </a:p>
        </p:txBody>
      </p:sp>
      <p:sp>
        <p:nvSpPr>
          <p:cNvPr id="10" name="Text 8"/>
          <p:cNvSpPr/>
          <p:nvPr/>
        </p:nvSpPr>
        <p:spPr>
          <a:xfrm>
            <a:off x="777240" y="301752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Center public pages</a:t>
            </a:r>
            <a:endParaRPr lang="en-US" sz="1500" dirty="0"/>
          </a:p>
        </p:txBody>
      </p:sp>
      <p:sp>
        <p:nvSpPr>
          <p:cNvPr id="11" name="Text 9"/>
          <p:cNvSpPr/>
          <p:nvPr/>
        </p:nvSpPr>
        <p:spPr>
          <a:xfrm>
            <a:off x="777240" y="331012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Each location inherits your brand chrome.</a:t>
            </a:r>
            <a:endParaRPr lang="en-US" sz="1300" dirty="0"/>
          </a:p>
        </p:txBody>
      </p:sp>
      <p:sp>
        <p:nvSpPr>
          <p:cNvPr id="12" name="Text 10"/>
          <p:cNvSpPr/>
          <p:nvPr/>
        </p:nvSpPr>
        <p:spPr>
          <a:xfrm>
            <a:off x="777240" y="388620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Public course pages</a:t>
            </a:r>
            <a:endParaRPr lang="en-US" sz="1500" dirty="0"/>
          </a:p>
        </p:txBody>
      </p:sp>
      <p:sp>
        <p:nvSpPr>
          <p:cNvPr id="13" name="Text 11"/>
          <p:cNvSpPr/>
          <p:nvPr/>
        </p:nvSpPr>
        <p:spPr>
          <a:xfrm>
            <a:off x="777240" y="417880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Curriculum drives what Students see online.</a:t>
            </a:r>
            <a:endParaRPr lang="en-US" sz="1300" dirty="0"/>
          </a:p>
        </p:txBody>
      </p:sp>
      <p:sp>
        <p:nvSpPr>
          <p:cNvPr id="14" name="Text 12"/>
          <p:cNvSpPr/>
          <p:nvPr/>
        </p:nvSpPr>
        <p:spPr>
          <a:xfrm>
            <a:off x="777240" y="475488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Branded login</a:t>
            </a:r>
            <a:endParaRPr lang="en-US" sz="1500" dirty="0"/>
          </a:p>
        </p:txBody>
      </p:sp>
      <p:sp>
        <p:nvSpPr>
          <p:cNvPr id="15" name="Text 13"/>
          <p:cNvSpPr/>
          <p:nvPr/>
        </p:nvSpPr>
        <p:spPr>
          <a:xfrm>
            <a:off x="777240" y="504748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Staff and students sign in looking like your institute.</a:t>
            </a:r>
            <a:endParaRPr lang="en-US" sz="1300" dirty="0"/>
          </a:p>
        </p:txBody>
      </p:sp>
      <p:sp>
        <p:nvSpPr>
          <p:cNvPr id="16" name="Shape 14"/>
          <p:cNvSpPr/>
          <p:nvPr/>
        </p:nvSpPr>
        <p:spPr>
          <a:xfrm>
            <a:off x="6217920" y="1371600"/>
            <a:ext cx="5486400" cy="4663440"/>
          </a:xfrm>
          <a:prstGeom prst="roundRect">
            <a:avLst>
              <a:gd name="adj" fmla="val 2353"/>
            </a:avLst>
          </a:prstGeom>
          <a:solidFill>
            <a:srgbClr val="16324A"/>
          </a:solidFill>
          <a:ln w="12700">
            <a:solidFill>
              <a:srgbClr val="2A455C"/>
            </a:solidFill>
            <a:prstDash val="solid"/>
          </a:ln>
        </p:spPr>
      </p:sp>
      <p:sp>
        <p:nvSpPr>
          <p:cNvPr id="17" name="Text 15"/>
          <p:cNvSpPr/>
          <p:nvPr/>
        </p:nvSpPr>
        <p:spPr>
          <a:xfrm>
            <a:off x="6492240" y="1600200"/>
            <a:ext cx="4937760" cy="365760"/>
          </a:xfrm>
          <a:prstGeom prst="rect">
            <a:avLst/>
          </a:prstGeom>
          <a:noFill/>
          <a:ln/>
        </p:spPr>
        <p:txBody>
          <a:bodyPr wrap="square" lIns="0" tIns="0" rIns="0" bIns="0" rtlCol="0" anchor="ctr"/>
          <a:lstStyle/>
          <a:p>
            <a:pPr marL="0" indent="0">
              <a:buNone/>
            </a:pPr>
            <a:r>
              <a:rPr lang="en-US" sz="1600" dirty="0">
                <a:solidFill>
                  <a:srgbClr val="2DD4BF"/>
                </a:solidFill>
                <a:latin typeface="Georgia" pitchFamily="34" charset="0"/>
                <a:ea typeface="Georgia" pitchFamily="34" charset="-122"/>
                <a:cs typeface="Georgia" pitchFamily="34" charset="-120"/>
              </a:rPr>
              <a:t>Lead → enrollment</a:t>
            </a:r>
            <a:endParaRPr lang="en-US" sz="1600" dirty="0"/>
          </a:p>
        </p:txBody>
      </p:sp>
      <p:sp>
        <p:nvSpPr>
          <p:cNvPr id="18" name="Text 16"/>
          <p:cNvSpPr/>
          <p:nvPr/>
        </p:nvSpPr>
        <p:spPr>
          <a:xfrm>
            <a:off x="6492240" y="214884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Student applications</a:t>
            </a:r>
            <a:endParaRPr lang="en-US" sz="1500" dirty="0"/>
          </a:p>
        </p:txBody>
      </p:sp>
      <p:sp>
        <p:nvSpPr>
          <p:cNvPr id="19" name="Text 17"/>
          <p:cNvSpPr/>
          <p:nvPr/>
        </p:nvSpPr>
        <p:spPr>
          <a:xfrm>
            <a:off x="6492240" y="244144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Brand-wide or direct to a center.</a:t>
            </a:r>
            <a:endParaRPr lang="en-US" sz="1300" dirty="0"/>
          </a:p>
        </p:txBody>
      </p:sp>
      <p:sp>
        <p:nvSpPr>
          <p:cNvPr id="20" name="Text 18"/>
          <p:cNvSpPr/>
          <p:nvPr/>
        </p:nvSpPr>
        <p:spPr>
          <a:xfrm>
            <a:off x="6492240" y="301752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Assign &amp; reallocate</a:t>
            </a:r>
            <a:endParaRPr lang="en-US" sz="1500" dirty="0"/>
          </a:p>
        </p:txBody>
      </p:sp>
      <p:sp>
        <p:nvSpPr>
          <p:cNvPr id="21" name="Text 19"/>
          <p:cNvSpPr/>
          <p:nvPr/>
        </p:nvSpPr>
        <p:spPr>
          <a:xfrm>
            <a:off x="6492240" y="331012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Pincode suggestions; you override when needed.</a:t>
            </a:r>
            <a:endParaRPr lang="en-US" sz="1300" dirty="0"/>
          </a:p>
        </p:txBody>
      </p:sp>
      <p:sp>
        <p:nvSpPr>
          <p:cNvPr id="22" name="Text 20"/>
          <p:cNvSpPr/>
          <p:nvPr/>
        </p:nvSpPr>
        <p:spPr>
          <a:xfrm>
            <a:off x="6492240" y="388620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Stale-lead alerts</a:t>
            </a:r>
            <a:endParaRPr lang="en-US" sz="1500" dirty="0"/>
          </a:p>
        </p:txBody>
      </p:sp>
      <p:sp>
        <p:nvSpPr>
          <p:cNvPr id="23" name="Text 21"/>
          <p:cNvSpPr/>
          <p:nvPr/>
        </p:nvSpPr>
        <p:spPr>
          <a:xfrm>
            <a:off x="6492240" y="417880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Quiet franchises don’t sit on opportunities.</a:t>
            </a:r>
            <a:endParaRPr lang="en-US" sz="1300" dirty="0"/>
          </a:p>
        </p:txBody>
      </p:sp>
      <p:sp>
        <p:nvSpPr>
          <p:cNvPr id="24" name="Text 22"/>
          <p:cNvSpPr/>
          <p:nvPr/>
        </p:nvSpPr>
        <p:spPr>
          <a:xfrm>
            <a:off x="6492240" y="4754880"/>
            <a:ext cx="4937760" cy="274320"/>
          </a:xfrm>
          <a:prstGeom prst="rect">
            <a:avLst/>
          </a:prstGeom>
          <a:noFill/>
          <a:ln/>
        </p:spPr>
        <p:txBody>
          <a:bodyPr wrap="square" lIns="0" tIns="0" rIns="0" bIns="0" rtlCol="0" anchor="ctr"/>
          <a:lstStyle/>
          <a:p>
            <a:pPr marL="0" indent="0">
              <a:buNone/>
            </a:pPr>
            <a:r>
              <a:rPr lang="en-US" sz="1500" b="1" dirty="0">
                <a:solidFill>
                  <a:srgbClr val="F4F7FA"/>
                </a:solidFill>
                <a:latin typeface="Calibri" pitchFamily="34" charset="0"/>
                <a:ea typeface="Calibri" pitchFamily="34" charset="-122"/>
                <a:cs typeface="Calibri" pitchFamily="34" charset="-120"/>
              </a:rPr>
              <a:t>Lost + reopen + CSV</a:t>
            </a:r>
            <a:endParaRPr lang="en-US" sz="1500" dirty="0"/>
          </a:p>
        </p:txBody>
      </p:sp>
      <p:sp>
        <p:nvSpPr>
          <p:cNvPr id="25" name="Text 23"/>
          <p:cNvSpPr/>
          <p:nvPr/>
        </p:nvSpPr>
        <p:spPr>
          <a:xfrm>
            <a:off x="6492240" y="5047488"/>
            <a:ext cx="4937760" cy="3657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Reasons captured; brand can reopen; export anytime.</a:t>
            </a:r>
            <a:endParaRPr lang="en-US" sz="1300" dirty="0"/>
          </a:p>
        </p:txBody>
      </p:sp>
      <p:sp>
        <p:nvSpPr>
          <p:cNvPr id="26" name="Text 24"/>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7" name="Text 25"/>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02  ·  OPERATE</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600" dirty="0">
                <a:solidFill>
                  <a:srgbClr val="F4F7FA"/>
                </a:solidFill>
                <a:latin typeface="Georgia" pitchFamily="34" charset="0"/>
                <a:ea typeface="Georgia" pitchFamily="34" charset="-122"/>
                <a:cs typeface="Georgia" pitchFamily="34" charset="-120"/>
              </a:rPr>
              <a:t>Open a new center without inventing a new process.</a:t>
            </a:r>
            <a:endParaRPr lang="en-US" sz="2600" dirty="0"/>
          </a:p>
        </p:txBody>
      </p:sp>
      <p:sp>
        <p:nvSpPr>
          <p:cNvPr id="6" name="Shape 4"/>
          <p:cNvSpPr/>
          <p:nvPr/>
        </p:nvSpPr>
        <p:spPr>
          <a:xfrm>
            <a:off x="502920" y="1417320"/>
            <a:ext cx="3657600" cy="2057400"/>
          </a:xfrm>
          <a:prstGeom prst="roundRect">
            <a:avLst>
              <a:gd name="adj" fmla="val 5333"/>
            </a:avLst>
          </a:prstGeom>
          <a:solidFill>
            <a:srgbClr val="16324A"/>
          </a:solidFill>
          <a:ln w="12700">
            <a:solidFill>
              <a:srgbClr val="2A455C"/>
            </a:solidFill>
            <a:prstDash val="solid"/>
          </a:ln>
        </p:spPr>
      </p:sp>
      <p:sp>
        <p:nvSpPr>
          <p:cNvPr id="7" name="Text 5"/>
          <p:cNvSpPr/>
          <p:nvPr/>
        </p:nvSpPr>
        <p:spPr>
          <a:xfrm>
            <a:off x="731520" y="1737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Franchise applications</a:t>
            </a:r>
            <a:endParaRPr lang="en-US" sz="1600" dirty="0"/>
          </a:p>
        </p:txBody>
      </p:sp>
      <p:sp>
        <p:nvSpPr>
          <p:cNvPr id="8" name="Text 6"/>
          <p:cNvSpPr/>
          <p:nvPr/>
        </p:nvSpPr>
        <p:spPr>
          <a:xfrm>
            <a:off x="731520" y="2377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Approve → center goes live + operator invited in one flow.</a:t>
            </a:r>
            <a:endParaRPr lang="en-US" sz="1300" dirty="0"/>
          </a:p>
        </p:txBody>
      </p:sp>
      <p:sp>
        <p:nvSpPr>
          <p:cNvPr id="9" name="Shape 7"/>
          <p:cNvSpPr/>
          <p:nvPr/>
        </p:nvSpPr>
        <p:spPr>
          <a:xfrm>
            <a:off x="4343400" y="1417320"/>
            <a:ext cx="3657600" cy="2057400"/>
          </a:xfrm>
          <a:prstGeom prst="roundRect">
            <a:avLst>
              <a:gd name="adj" fmla="val 5333"/>
            </a:avLst>
          </a:prstGeom>
          <a:solidFill>
            <a:srgbClr val="16324A"/>
          </a:solidFill>
          <a:ln w="12700">
            <a:solidFill>
              <a:srgbClr val="2A455C"/>
            </a:solidFill>
            <a:prstDash val="solid"/>
          </a:ln>
        </p:spPr>
      </p:sp>
      <p:sp>
        <p:nvSpPr>
          <p:cNvPr id="10" name="Text 8"/>
          <p:cNvSpPr/>
          <p:nvPr/>
        </p:nvSpPr>
        <p:spPr>
          <a:xfrm>
            <a:off x="4572000" y="1737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Import / export centers</a:t>
            </a:r>
            <a:endParaRPr lang="en-US" sz="1600" dirty="0"/>
          </a:p>
        </p:txBody>
      </p:sp>
      <p:sp>
        <p:nvSpPr>
          <p:cNvPr id="11" name="Text 9"/>
          <p:cNvSpPr/>
          <p:nvPr/>
        </p:nvSpPr>
        <p:spPr>
          <a:xfrm>
            <a:off x="4572000" y="2377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Bulk CSV for network rollouts; export the full franchise list.</a:t>
            </a:r>
            <a:endParaRPr lang="en-US" sz="1300" dirty="0"/>
          </a:p>
        </p:txBody>
      </p:sp>
      <p:sp>
        <p:nvSpPr>
          <p:cNvPr id="12" name="Shape 10"/>
          <p:cNvSpPr/>
          <p:nvPr/>
        </p:nvSpPr>
        <p:spPr>
          <a:xfrm>
            <a:off x="8183880" y="1417320"/>
            <a:ext cx="3657600" cy="2057400"/>
          </a:xfrm>
          <a:prstGeom prst="roundRect">
            <a:avLst>
              <a:gd name="adj" fmla="val 5333"/>
            </a:avLst>
          </a:prstGeom>
          <a:solidFill>
            <a:srgbClr val="16324A"/>
          </a:solidFill>
          <a:ln w="12700">
            <a:solidFill>
              <a:srgbClr val="2A455C"/>
            </a:solidFill>
            <a:prstDash val="solid"/>
          </a:ln>
        </p:spPr>
      </p:sp>
      <p:sp>
        <p:nvSpPr>
          <p:cNvPr id="13" name="Text 11"/>
          <p:cNvSpPr/>
          <p:nvPr/>
        </p:nvSpPr>
        <p:spPr>
          <a:xfrm>
            <a:off x="8412480" y="1737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Curriculum enablement</a:t>
            </a:r>
            <a:endParaRPr lang="en-US" sz="1600" dirty="0"/>
          </a:p>
        </p:txBody>
      </p:sp>
      <p:sp>
        <p:nvSpPr>
          <p:cNvPr id="14" name="Text 12"/>
          <p:cNvSpPr/>
          <p:nvPr/>
        </p:nvSpPr>
        <p:spPr>
          <a:xfrm>
            <a:off x="8412480" y="2377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You decide which courses each center may offer.</a:t>
            </a:r>
            <a:endParaRPr lang="en-US" sz="1300" dirty="0"/>
          </a:p>
        </p:txBody>
      </p:sp>
      <p:sp>
        <p:nvSpPr>
          <p:cNvPr id="15" name="Shape 13"/>
          <p:cNvSpPr/>
          <p:nvPr/>
        </p:nvSpPr>
        <p:spPr>
          <a:xfrm>
            <a:off x="502920" y="3703320"/>
            <a:ext cx="3657600" cy="2057400"/>
          </a:xfrm>
          <a:prstGeom prst="roundRect">
            <a:avLst>
              <a:gd name="adj" fmla="val 5333"/>
            </a:avLst>
          </a:prstGeom>
          <a:solidFill>
            <a:srgbClr val="16324A"/>
          </a:solidFill>
          <a:ln w="12700">
            <a:solidFill>
              <a:srgbClr val="2A455C"/>
            </a:solidFill>
            <a:prstDash val="solid"/>
          </a:ln>
        </p:spPr>
      </p:sp>
      <p:sp>
        <p:nvSpPr>
          <p:cNvPr id="16" name="Text 14"/>
          <p:cNvSpPr/>
          <p:nvPr/>
        </p:nvSpPr>
        <p:spPr>
          <a:xfrm>
            <a:off x="731520" y="4023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Center front desk</a:t>
            </a:r>
            <a:endParaRPr lang="en-US" sz="1600" dirty="0"/>
          </a:p>
        </p:txBody>
      </p:sp>
      <p:sp>
        <p:nvSpPr>
          <p:cNvPr id="17" name="Text 15"/>
          <p:cNvSpPr/>
          <p:nvPr/>
        </p:nvSpPr>
        <p:spPr>
          <a:xfrm>
            <a:off x="731520" y="4663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Leads, students, fees, inventory — simple enough franchisees will use.</a:t>
            </a:r>
            <a:endParaRPr lang="en-US" sz="1300" dirty="0"/>
          </a:p>
        </p:txBody>
      </p:sp>
      <p:sp>
        <p:nvSpPr>
          <p:cNvPr id="18" name="Shape 16"/>
          <p:cNvSpPr/>
          <p:nvPr/>
        </p:nvSpPr>
        <p:spPr>
          <a:xfrm>
            <a:off x="4343400" y="3703320"/>
            <a:ext cx="3657600" cy="2057400"/>
          </a:xfrm>
          <a:prstGeom prst="roundRect">
            <a:avLst>
              <a:gd name="adj" fmla="val 5333"/>
            </a:avLst>
          </a:prstGeom>
          <a:solidFill>
            <a:srgbClr val="16324A"/>
          </a:solidFill>
          <a:ln w="12700">
            <a:solidFill>
              <a:srgbClr val="2A455C"/>
            </a:solidFill>
            <a:prstDash val="solid"/>
          </a:ln>
        </p:spPr>
      </p:sp>
      <p:sp>
        <p:nvSpPr>
          <p:cNvPr id="19" name="Text 17"/>
          <p:cNvSpPr/>
          <p:nvPr/>
        </p:nvSpPr>
        <p:spPr>
          <a:xfrm>
            <a:off x="4572000" y="4023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Network roster</a:t>
            </a:r>
            <a:endParaRPr lang="en-US" sz="1600" dirty="0"/>
          </a:p>
        </p:txBody>
      </p:sp>
      <p:sp>
        <p:nvSpPr>
          <p:cNvPr id="20" name="Text 18"/>
          <p:cNvSpPr/>
          <p:nvPr/>
        </p:nvSpPr>
        <p:spPr>
          <a:xfrm>
            <a:off x="4572000" y="4663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See students across franchises; search by name, city, center; export CSV.</a:t>
            </a:r>
            <a:endParaRPr lang="en-US" sz="1300" dirty="0"/>
          </a:p>
        </p:txBody>
      </p:sp>
      <p:sp>
        <p:nvSpPr>
          <p:cNvPr id="21" name="Shape 19"/>
          <p:cNvSpPr/>
          <p:nvPr/>
        </p:nvSpPr>
        <p:spPr>
          <a:xfrm>
            <a:off x="8183880" y="3703320"/>
            <a:ext cx="3657600" cy="2057400"/>
          </a:xfrm>
          <a:prstGeom prst="roundRect">
            <a:avLst>
              <a:gd name="adj" fmla="val 5333"/>
            </a:avLst>
          </a:prstGeom>
          <a:solidFill>
            <a:srgbClr val="16324A"/>
          </a:solidFill>
          <a:ln w="12700">
            <a:solidFill>
              <a:srgbClr val="2A455C"/>
            </a:solidFill>
            <a:prstDash val="solid"/>
          </a:ln>
        </p:spPr>
      </p:sp>
      <p:sp>
        <p:nvSpPr>
          <p:cNvPr id="22" name="Text 20"/>
          <p:cNvSpPr/>
          <p:nvPr/>
        </p:nvSpPr>
        <p:spPr>
          <a:xfrm>
            <a:off x="8412480" y="4023360"/>
            <a:ext cx="3200400" cy="502920"/>
          </a:xfrm>
          <a:prstGeom prst="rect">
            <a:avLst/>
          </a:prstGeom>
          <a:noFill/>
          <a:ln/>
        </p:spPr>
        <p:txBody>
          <a:bodyPr wrap="square" lIns="0" tIns="0" rIns="0" bIns="0" rtlCol="0" anchor="ctr"/>
          <a:lstStyle/>
          <a:p>
            <a:pPr marL="0" indent="0">
              <a:buNone/>
            </a:pPr>
            <a:r>
              <a:rPr lang="en-US" sz="1600" dirty="0">
                <a:solidFill>
                  <a:srgbClr val="F4F7FA"/>
                </a:solidFill>
                <a:latin typeface="Georgia" pitchFamily="34" charset="0"/>
                <a:ea typeface="Georgia" pitchFamily="34" charset="-122"/>
                <a:cs typeface="Georgia" pitchFamily="34" charset="-120"/>
              </a:rPr>
              <a:t>Analytics pulse</a:t>
            </a:r>
            <a:endParaRPr lang="en-US" sz="1600" dirty="0"/>
          </a:p>
        </p:txBody>
      </p:sp>
      <p:sp>
        <p:nvSpPr>
          <p:cNvPr id="23" name="Text 21"/>
          <p:cNvSpPr/>
          <p:nvPr/>
        </p:nvSpPr>
        <p:spPr>
          <a:xfrm>
            <a:off x="8412480" y="4663440"/>
            <a:ext cx="3200400" cy="822960"/>
          </a:xfrm>
          <a:prstGeom prst="rect">
            <a:avLst/>
          </a:prstGeom>
          <a:noFill/>
          <a:ln/>
        </p:spPr>
        <p:txBody>
          <a:bodyPr wrap="square" lIns="0" tIns="0" rIns="0" bIns="0" rtlCol="0" anchor="ctr"/>
          <a:lstStyle/>
          <a:p>
            <a:pPr marL="0" indent="0">
              <a:buNone/>
            </a:pPr>
            <a:r>
              <a:rPr lang="en-US" sz="1300" dirty="0">
                <a:solidFill>
                  <a:srgbClr val="A8B8C8"/>
                </a:solidFill>
                <a:latin typeface="Calibri" pitchFamily="34" charset="0"/>
                <a:ea typeface="Calibri" pitchFamily="34" charset="-122"/>
                <a:cs typeface="Calibri" pitchFamily="34" charset="-120"/>
              </a:rPr>
              <a:t>Conversion and enrollment visibility across the network.</a:t>
            </a:r>
            <a:endParaRPr lang="en-US" sz="1300" dirty="0"/>
          </a:p>
        </p:txBody>
      </p:sp>
      <p:sp>
        <p:nvSpPr>
          <p:cNvPr id="24" name="Text 22"/>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5" name="Text 23"/>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03  ·  TEACH</a:t>
            </a:r>
            <a:endParaRPr lang="en-US" sz="1200" dirty="0"/>
          </a:p>
        </p:txBody>
      </p:sp>
      <p:sp>
        <p:nvSpPr>
          <p:cNvPr id="5" name="Text 3"/>
          <p:cNvSpPr/>
          <p:nvPr/>
        </p:nvSpPr>
        <p:spPr>
          <a:xfrm>
            <a:off x="640080" y="685800"/>
            <a:ext cx="10972800" cy="502920"/>
          </a:xfrm>
          <a:prstGeom prst="rect">
            <a:avLst/>
          </a:prstGeom>
          <a:noFill/>
          <a:ln/>
        </p:spPr>
        <p:txBody>
          <a:bodyPr wrap="square" lIns="0" tIns="0" rIns="0" bIns="0" rtlCol="0" anchor="ctr"/>
          <a:lstStyle/>
          <a:p>
            <a:pPr marL="0" indent="0">
              <a:buNone/>
            </a:pPr>
            <a:r>
              <a:rPr lang="en-US" sz="2400" dirty="0">
                <a:solidFill>
                  <a:srgbClr val="F4F7FA"/>
                </a:solidFill>
                <a:latin typeface="Georgia" pitchFamily="34" charset="0"/>
                <a:ea typeface="Georgia" pitchFamily="34" charset="-122"/>
                <a:cs typeface="Georgia" pitchFamily="34" charset="-120"/>
              </a:rPr>
              <a:t>Your method stays consistent — even across twenty classrooms.</a:t>
            </a:r>
            <a:endParaRPr lang="en-US" sz="2400" dirty="0"/>
          </a:p>
        </p:txBody>
      </p:sp>
      <p:sp>
        <p:nvSpPr>
          <p:cNvPr id="6" name="Shape 4"/>
          <p:cNvSpPr/>
          <p:nvPr/>
        </p:nvSpPr>
        <p:spPr>
          <a:xfrm>
            <a:off x="502920" y="1417320"/>
            <a:ext cx="5486400" cy="4572000"/>
          </a:xfrm>
          <a:prstGeom prst="roundRect">
            <a:avLst>
              <a:gd name="adj" fmla="val 2400"/>
            </a:avLst>
          </a:prstGeom>
          <a:solidFill>
            <a:srgbClr val="16324A"/>
          </a:solidFill>
          <a:ln w="12700">
            <a:solidFill>
              <a:srgbClr val="2A455C"/>
            </a:solidFill>
            <a:prstDash val="solid"/>
          </a:ln>
        </p:spPr>
      </p:sp>
      <p:sp>
        <p:nvSpPr>
          <p:cNvPr id="7" name="Text 5"/>
          <p:cNvSpPr/>
          <p:nvPr/>
        </p:nvSpPr>
        <p:spPr>
          <a:xfrm>
            <a:off x="777240" y="1691640"/>
            <a:ext cx="4937760" cy="365760"/>
          </a:xfrm>
          <a:prstGeom prst="rect">
            <a:avLst/>
          </a:prstGeom>
          <a:noFill/>
          <a:ln/>
        </p:spPr>
        <p:txBody>
          <a:bodyPr wrap="square" lIns="0" tIns="0" rIns="0" bIns="0" rtlCol="0" anchor="ctr"/>
          <a:lstStyle/>
          <a:p>
            <a:pPr marL="0" indent="0">
              <a:buNone/>
            </a:pPr>
            <a:r>
              <a:rPr lang="en-US" sz="1800" dirty="0">
                <a:solidFill>
                  <a:srgbClr val="2DD4BF"/>
                </a:solidFill>
                <a:latin typeface="Georgia" pitchFamily="34" charset="0"/>
                <a:ea typeface="Georgia" pitchFamily="34" charset="-122"/>
                <a:cs typeface="Georgia" pitchFamily="34" charset="-120"/>
              </a:rPr>
              <a:t>Curriculum as source of truth</a:t>
            </a:r>
            <a:endParaRPr lang="en-US" sz="1800" dirty="0"/>
          </a:p>
        </p:txBody>
      </p:sp>
      <p:sp>
        <p:nvSpPr>
          <p:cNvPr id="8" name="Text 6"/>
          <p:cNvSpPr/>
          <p:nvPr/>
        </p:nvSpPr>
        <p:spPr>
          <a:xfrm>
            <a:off x="777240" y="233172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Courses → Levels → Units</a:t>
            </a:r>
            <a:endParaRPr lang="en-US" sz="1500" dirty="0"/>
          </a:p>
        </p:txBody>
      </p:sp>
      <p:sp>
        <p:nvSpPr>
          <p:cNvPr id="9" name="Text 7"/>
          <p:cNvSpPr/>
          <p:nvPr/>
        </p:nvSpPr>
        <p:spPr>
          <a:xfrm>
            <a:off x="777240" y="292608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Draft vs published — go live when ready</a:t>
            </a:r>
            <a:endParaRPr lang="en-US" sz="1500" dirty="0"/>
          </a:p>
        </p:txBody>
      </p:sp>
      <p:sp>
        <p:nvSpPr>
          <p:cNvPr id="10" name="Text 8"/>
          <p:cNvSpPr/>
          <p:nvPr/>
        </p:nvSpPr>
        <p:spPr>
          <a:xfrm>
            <a:off x="777240" y="352044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Marketing banners per course</a:t>
            </a:r>
            <a:endParaRPr lang="en-US" sz="1500" dirty="0"/>
          </a:p>
        </p:txBody>
      </p:sp>
      <p:sp>
        <p:nvSpPr>
          <p:cNvPr id="11" name="Text 9"/>
          <p:cNvSpPr/>
          <p:nvPr/>
        </p:nvSpPr>
        <p:spPr>
          <a:xfrm>
            <a:off x="777240" y="411480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What Students see matches what centers teach</a:t>
            </a:r>
            <a:endParaRPr lang="en-US" sz="1500" dirty="0"/>
          </a:p>
        </p:txBody>
      </p:sp>
      <p:sp>
        <p:nvSpPr>
          <p:cNvPr id="12" name="Text 10"/>
          <p:cNvSpPr/>
          <p:nvPr/>
        </p:nvSpPr>
        <p:spPr>
          <a:xfrm>
            <a:off x="777240" y="470916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Per-center enablement of programs</a:t>
            </a:r>
            <a:endParaRPr lang="en-US" sz="1500" dirty="0"/>
          </a:p>
        </p:txBody>
      </p:sp>
      <p:sp>
        <p:nvSpPr>
          <p:cNvPr id="13" name="Shape 11"/>
          <p:cNvSpPr/>
          <p:nvPr/>
        </p:nvSpPr>
        <p:spPr>
          <a:xfrm>
            <a:off x="6217920" y="1417320"/>
            <a:ext cx="5486400" cy="4572000"/>
          </a:xfrm>
          <a:prstGeom prst="roundRect">
            <a:avLst>
              <a:gd name="adj" fmla="val 2400"/>
            </a:avLst>
          </a:prstGeom>
          <a:solidFill>
            <a:srgbClr val="16324A"/>
          </a:solidFill>
          <a:ln w="12700">
            <a:solidFill>
              <a:srgbClr val="2A455C"/>
            </a:solidFill>
            <a:prstDash val="solid"/>
          </a:ln>
        </p:spPr>
      </p:sp>
      <p:sp>
        <p:nvSpPr>
          <p:cNvPr id="14" name="Text 12"/>
          <p:cNvSpPr/>
          <p:nvPr/>
        </p:nvSpPr>
        <p:spPr>
          <a:xfrm>
            <a:off x="6492240" y="1691640"/>
            <a:ext cx="4937760" cy="365760"/>
          </a:xfrm>
          <a:prstGeom prst="rect">
            <a:avLst/>
          </a:prstGeom>
          <a:noFill/>
          <a:ln/>
        </p:spPr>
        <p:txBody>
          <a:bodyPr wrap="square" lIns="0" tIns="0" rIns="0" bIns="0" rtlCol="0" anchor="ctr"/>
          <a:lstStyle/>
          <a:p>
            <a:pPr marL="0" indent="0">
              <a:buNone/>
            </a:pPr>
            <a:r>
              <a:rPr lang="en-US" sz="1800" dirty="0">
                <a:solidFill>
                  <a:srgbClr val="2DD4BF"/>
                </a:solidFill>
                <a:latin typeface="Georgia" pitchFamily="34" charset="0"/>
                <a:ea typeface="Georgia" pitchFamily="34" charset="-122"/>
                <a:cs typeface="Georgia" pitchFamily="34" charset="-120"/>
              </a:rPr>
              <a:t>Student Learn portal</a:t>
            </a:r>
            <a:endParaRPr lang="en-US" sz="1800" dirty="0"/>
          </a:p>
        </p:txBody>
      </p:sp>
      <p:sp>
        <p:nvSpPr>
          <p:cNvPr id="15" name="Text 13"/>
          <p:cNvSpPr/>
          <p:nvPr/>
        </p:nvSpPr>
        <p:spPr>
          <a:xfrm>
            <a:off x="6492240" y="233172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Invite-only after enrollment</a:t>
            </a:r>
            <a:endParaRPr lang="en-US" sz="1500" dirty="0"/>
          </a:p>
        </p:txBody>
      </p:sp>
      <p:sp>
        <p:nvSpPr>
          <p:cNvPr id="16" name="Text 14"/>
          <p:cNvSpPr/>
          <p:nvPr/>
        </p:nvSpPr>
        <p:spPr>
          <a:xfrm>
            <a:off x="6492240" y="292608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Home + curriculum progress ladder</a:t>
            </a:r>
            <a:endParaRPr lang="en-US" sz="1500" dirty="0"/>
          </a:p>
        </p:txBody>
      </p:sp>
      <p:sp>
        <p:nvSpPr>
          <p:cNvPr id="17" name="Text 15"/>
          <p:cNvSpPr/>
          <p:nvPr/>
        </p:nvSpPr>
        <p:spPr>
          <a:xfrm>
            <a:off x="6492240" y="352044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Events &amp; competitions (when enabled)</a:t>
            </a:r>
            <a:endParaRPr lang="en-US" sz="1500" dirty="0"/>
          </a:p>
        </p:txBody>
      </p:sp>
      <p:sp>
        <p:nvSpPr>
          <p:cNvPr id="18" name="Text 16"/>
          <p:cNvSpPr/>
          <p:nvPr/>
        </p:nvSpPr>
        <p:spPr>
          <a:xfrm>
            <a:off x="6492240" y="411480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Profile with center website link</a:t>
            </a:r>
            <a:endParaRPr lang="en-US" sz="1500" dirty="0"/>
          </a:p>
        </p:txBody>
      </p:sp>
      <p:sp>
        <p:nvSpPr>
          <p:cNvPr id="19" name="Text 17"/>
          <p:cNvSpPr/>
          <p:nvPr/>
        </p:nvSpPr>
        <p:spPr>
          <a:xfrm>
            <a:off x="6492240" y="4709160"/>
            <a:ext cx="4937760" cy="45720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  Branded experience under your name</a:t>
            </a:r>
            <a:endParaRPr lang="en-US" sz="1500" dirty="0"/>
          </a:p>
        </p:txBody>
      </p:sp>
      <p:sp>
        <p:nvSpPr>
          <p:cNvPr id="20" name="Text 18"/>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1" name="Text 19"/>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0633"/>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04  ·  GROW</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400" dirty="0">
                <a:solidFill>
                  <a:srgbClr val="F4F7FA"/>
                </a:solidFill>
                <a:latin typeface="Georgia" pitchFamily="34" charset="0"/>
                <a:ea typeface="Georgia" pitchFamily="34" charset="-122"/>
                <a:cs typeface="Georgia" pitchFamily="34" charset="-120"/>
              </a:rPr>
              <a:t>Start simple. Switch modules on when the network is ready.</a:t>
            </a:r>
            <a:endParaRPr lang="en-US" sz="2400" dirty="0"/>
          </a:p>
        </p:txBody>
      </p:sp>
      <p:sp>
        <p:nvSpPr>
          <p:cNvPr id="6" name="Shape 4"/>
          <p:cNvSpPr/>
          <p:nvPr/>
        </p:nvSpPr>
        <p:spPr>
          <a:xfrm>
            <a:off x="502920" y="1417320"/>
            <a:ext cx="5577840" cy="2057400"/>
          </a:xfrm>
          <a:prstGeom prst="roundRect">
            <a:avLst>
              <a:gd name="adj" fmla="val 5333"/>
            </a:avLst>
          </a:prstGeom>
          <a:solidFill>
            <a:srgbClr val="16324A"/>
          </a:solidFill>
          <a:ln w="12700">
            <a:solidFill>
              <a:srgbClr val="2A455C"/>
            </a:solidFill>
            <a:prstDash val="solid"/>
          </a:ln>
        </p:spPr>
      </p:sp>
      <p:sp>
        <p:nvSpPr>
          <p:cNvPr id="7" name="Shape 5"/>
          <p:cNvSpPr/>
          <p:nvPr/>
        </p:nvSpPr>
        <p:spPr>
          <a:xfrm>
            <a:off x="777240" y="2194560"/>
            <a:ext cx="320040" cy="320040"/>
          </a:xfrm>
          <a:prstGeom prst="ellipse">
            <a:avLst/>
          </a:prstGeom>
          <a:solidFill>
            <a:srgbClr val="F59E0B"/>
          </a:solidFill>
          <a:ln w="12700">
            <a:solidFill>
              <a:srgbClr val="F59E0B"/>
            </a:solidFill>
            <a:prstDash val="solid"/>
          </a:ln>
        </p:spPr>
      </p:sp>
      <p:sp>
        <p:nvSpPr>
          <p:cNvPr id="8" name="Text 6"/>
          <p:cNvSpPr/>
          <p:nvPr/>
        </p:nvSpPr>
        <p:spPr>
          <a:xfrm>
            <a:off x="1325880" y="2112693"/>
            <a:ext cx="4389120" cy="41148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Merchandise</a:t>
            </a:r>
            <a:endParaRPr lang="en-US" sz="2000" dirty="0"/>
          </a:p>
        </p:txBody>
      </p:sp>
      <p:sp>
        <p:nvSpPr>
          <p:cNvPr id="9" name="Text 7"/>
          <p:cNvSpPr/>
          <p:nvPr/>
        </p:nvSpPr>
        <p:spPr>
          <a:xfrm>
            <a:off x="1325880" y="2377440"/>
            <a:ext cx="4389120" cy="7772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Brand catalog, promo codes, center shop &amp; inventory — SKUs tied to courses.</a:t>
            </a:r>
            <a:endParaRPr lang="en-US" sz="1400" dirty="0"/>
          </a:p>
        </p:txBody>
      </p:sp>
      <p:sp>
        <p:nvSpPr>
          <p:cNvPr id="10" name="Shape 8"/>
          <p:cNvSpPr/>
          <p:nvPr/>
        </p:nvSpPr>
        <p:spPr>
          <a:xfrm>
            <a:off x="6309360" y="1417320"/>
            <a:ext cx="5577840" cy="2057400"/>
          </a:xfrm>
          <a:prstGeom prst="roundRect">
            <a:avLst>
              <a:gd name="adj" fmla="val 5333"/>
            </a:avLst>
          </a:prstGeom>
          <a:solidFill>
            <a:srgbClr val="16324A"/>
          </a:solidFill>
          <a:ln w="12700">
            <a:solidFill>
              <a:srgbClr val="2A455C"/>
            </a:solidFill>
            <a:prstDash val="solid"/>
          </a:ln>
        </p:spPr>
      </p:sp>
      <p:sp>
        <p:nvSpPr>
          <p:cNvPr id="11" name="Shape 9"/>
          <p:cNvSpPr/>
          <p:nvPr/>
        </p:nvSpPr>
        <p:spPr>
          <a:xfrm>
            <a:off x="6583680" y="2194560"/>
            <a:ext cx="320040" cy="320040"/>
          </a:xfrm>
          <a:prstGeom prst="ellipse">
            <a:avLst/>
          </a:prstGeom>
          <a:solidFill>
            <a:srgbClr val="F59E0B"/>
          </a:solidFill>
          <a:ln w="12700">
            <a:solidFill>
              <a:srgbClr val="F59E0B"/>
            </a:solidFill>
            <a:prstDash val="solid"/>
          </a:ln>
        </p:spPr>
      </p:sp>
      <p:sp>
        <p:nvSpPr>
          <p:cNvPr id="12" name="Text 10"/>
          <p:cNvSpPr/>
          <p:nvPr/>
        </p:nvSpPr>
        <p:spPr>
          <a:xfrm>
            <a:off x="7132320" y="2112693"/>
            <a:ext cx="4389120" cy="41148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Competitions</a:t>
            </a:r>
            <a:endParaRPr lang="en-US" sz="2000" dirty="0"/>
          </a:p>
        </p:txBody>
      </p:sp>
      <p:sp>
        <p:nvSpPr>
          <p:cNvPr id="13" name="Text 11"/>
          <p:cNvSpPr/>
          <p:nvPr/>
        </p:nvSpPr>
        <p:spPr>
          <a:xfrm>
            <a:off x="7132320" y="2377440"/>
            <a:ext cx="4389120" cy="7772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Events and MCQ quizzes students take in the Learn portal.</a:t>
            </a:r>
            <a:endParaRPr lang="en-US" sz="1400" dirty="0"/>
          </a:p>
        </p:txBody>
      </p:sp>
      <p:sp>
        <p:nvSpPr>
          <p:cNvPr id="14" name="Shape 12"/>
          <p:cNvSpPr/>
          <p:nvPr/>
        </p:nvSpPr>
        <p:spPr>
          <a:xfrm>
            <a:off x="502920" y="3657600"/>
            <a:ext cx="5577840" cy="2057400"/>
          </a:xfrm>
          <a:prstGeom prst="roundRect">
            <a:avLst>
              <a:gd name="adj" fmla="val 5333"/>
            </a:avLst>
          </a:prstGeom>
          <a:solidFill>
            <a:srgbClr val="16324A"/>
          </a:solidFill>
          <a:ln w="12700">
            <a:solidFill>
              <a:srgbClr val="2A455C"/>
            </a:solidFill>
            <a:prstDash val="solid"/>
          </a:ln>
        </p:spPr>
      </p:sp>
      <p:sp>
        <p:nvSpPr>
          <p:cNvPr id="15" name="Shape 13"/>
          <p:cNvSpPr/>
          <p:nvPr/>
        </p:nvSpPr>
        <p:spPr>
          <a:xfrm>
            <a:off x="777240" y="4434840"/>
            <a:ext cx="320040" cy="320040"/>
          </a:xfrm>
          <a:prstGeom prst="ellipse">
            <a:avLst/>
          </a:prstGeom>
          <a:solidFill>
            <a:srgbClr val="F59E0B"/>
          </a:solidFill>
          <a:ln w="12700">
            <a:solidFill>
              <a:srgbClr val="F59E0B"/>
            </a:solidFill>
            <a:prstDash val="solid"/>
          </a:ln>
        </p:spPr>
      </p:sp>
      <p:sp>
        <p:nvSpPr>
          <p:cNvPr id="16" name="Text 14"/>
          <p:cNvSpPr/>
          <p:nvPr/>
        </p:nvSpPr>
        <p:spPr>
          <a:xfrm>
            <a:off x="1325880" y="4352973"/>
            <a:ext cx="4389120" cy="41148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Batches</a:t>
            </a:r>
            <a:endParaRPr lang="en-US" sz="2000" dirty="0"/>
          </a:p>
        </p:txBody>
      </p:sp>
      <p:sp>
        <p:nvSpPr>
          <p:cNvPr id="17" name="Text 15"/>
          <p:cNvSpPr/>
          <p:nvPr/>
        </p:nvSpPr>
        <p:spPr>
          <a:xfrm>
            <a:off x="1325880" y="4617720"/>
            <a:ext cx="4389120" cy="7772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Class grouping and schedule at the center when you enable it.</a:t>
            </a:r>
            <a:endParaRPr lang="en-US" sz="1400" dirty="0"/>
          </a:p>
        </p:txBody>
      </p:sp>
      <p:sp>
        <p:nvSpPr>
          <p:cNvPr id="18" name="Shape 16"/>
          <p:cNvSpPr/>
          <p:nvPr/>
        </p:nvSpPr>
        <p:spPr>
          <a:xfrm>
            <a:off x="6309360" y="3657600"/>
            <a:ext cx="5577840" cy="2057400"/>
          </a:xfrm>
          <a:prstGeom prst="roundRect">
            <a:avLst>
              <a:gd name="adj" fmla="val 5333"/>
            </a:avLst>
          </a:prstGeom>
          <a:solidFill>
            <a:srgbClr val="16324A"/>
          </a:solidFill>
          <a:ln w="12700">
            <a:solidFill>
              <a:srgbClr val="2A455C"/>
            </a:solidFill>
            <a:prstDash val="solid"/>
          </a:ln>
        </p:spPr>
      </p:sp>
      <p:sp>
        <p:nvSpPr>
          <p:cNvPr id="19" name="Shape 17"/>
          <p:cNvSpPr/>
          <p:nvPr/>
        </p:nvSpPr>
        <p:spPr>
          <a:xfrm>
            <a:off x="6583680" y="4434840"/>
            <a:ext cx="320040" cy="320040"/>
          </a:xfrm>
          <a:prstGeom prst="ellipse">
            <a:avLst/>
          </a:prstGeom>
          <a:solidFill>
            <a:srgbClr val="F59E0B"/>
          </a:solidFill>
          <a:ln w="12700">
            <a:solidFill>
              <a:srgbClr val="F59E0B"/>
            </a:solidFill>
            <a:prstDash val="solid"/>
          </a:ln>
        </p:spPr>
      </p:sp>
      <p:sp>
        <p:nvSpPr>
          <p:cNvPr id="20" name="Text 18"/>
          <p:cNvSpPr/>
          <p:nvPr/>
        </p:nvSpPr>
        <p:spPr>
          <a:xfrm>
            <a:off x="7132320" y="4352973"/>
            <a:ext cx="4389120" cy="411480"/>
          </a:xfrm>
          <a:prstGeom prst="rect">
            <a:avLst/>
          </a:prstGeom>
          <a:noFill/>
          <a:ln/>
        </p:spPr>
        <p:txBody>
          <a:bodyPr wrap="square" lIns="0" tIns="0" rIns="0" bIns="0" rtlCol="0" anchor="ctr"/>
          <a:lstStyle/>
          <a:p>
            <a:pPr marL="0" indent="0">
              <a:buNone/>
            </a:pPr>
            <a:r>
              <a:rPr lang="en-US" sz="2000" dirty="0">
                <a:solidFill>
                  <a:srgbClr val="F4F7FA"/>
                </a:solidFill>
                <a:latin typeface="Georgia" pitchFamily="34" charset="0"/>
                <a:ea typeface="Georgia" pitchFamily="34" charset="-122"/>
                <a:cs typeface="Georgia" pitchFamily="34" charset="-120"/>
              </a:rPr>
              <a:t>Campaigns</a:t>
            </a:r>
            <a:endParaRPr lang="en-US" sz="2000" dirty="0"/>
          </a:p>
        </p:txBody>
      </p:sp>
      <p:sp>
        <p:nvSpPr>
          <p:cNvPr id="21" name="Text 19"/>
          <p:cNvSpPr/>
          <p:nvPr/>
        </p:nvSpPr>
        <p:spPr>
          <a:xfrm>
            <a:off x="7132320" y="4617720"/>
            <a:ext cx="4389120" cy="77724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Brand campaigns — available when you turn the flag on.</a:t>
            </a:r>
            <a:endParaRPr lang="en-US" sz="1400" dirty="0"/>
          </a:p>
        </p:txBody>
      </p:sp>
      <p:sp>
        <p:nvSpPr>
          <p:cNvPr id="22" name="Text 20"/>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3" name="Text 2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SEE IT IN 4 STEPS</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600" dirty="0">
                <a:solidFill>
                  <a:srgbClr val="F4F7FA"/>
                </a:solidFill>
                <a:latin typeface="Georgia" pitchFamily="34" charset="0"/>
                <a:ea typeface="Georgia" pitchFamily="34" charset="-122"/>
                <a:cs typeface="Georgia" pitchFamily="34" charset="-120"/>
              </a:rPr>
              <a:t>The trial walkthrough Students and owners feel.</a:t>
            </a:r>
            <a:endParaRPr lang="en-US" sz="2600" dirty="0"/>
          </a:p>
        </p:txBody>
      </p:sp>
      <p:sp>
        <p:nvSpPr>
          <p:cNvPr id="6" name="Shape 4"/>
          <p:cNvSpPr/>
          <p:nvPr/>
        </p:nvSpPr>
        <p:spPr>
          <a:xfrm>
            <a:off x="502920" y="1554480"/>
            <a:ext cx="2788920" cy="4023360"/>
          </a:xfrm>
          <a:prstGeom prst="roundRect">
            <a:avLst>
              <a:gd name="adj" fmla="val 3934"/>
            </a:avLst>
          </a:prstGeom>
          <a:solidFill>
            <a:srgbClr val="16324A"/>
          </a:solidFill>
          <a:ln w="12700">
            <a:solidFill>
              <a:srgbClr val="2A455C"/>
            </a:solidFill>
            <a:prstDash val="solid"/>
          </a:ln>
        </p:spPr>
      </p:sp>
      <p:sp>
        <p:nvSpPr>
          <p:cNvPr id="7" name="Text 5"/>
          <p:cNvSpPr/>
          <p:nvPr/>
        </p:nvSpPr>
        <p:spPr>
          <a:xfrm>
            <a:off x="731520" y="1920240"/>
            <a:ext cx="2286000" cy="640080"/>
          </a:xfrm>
          <a:prstGeom prst="rect">
            <a:avLst/>
          </a:prstGeom>
          <a:noFill/>
          <a:ln/>
        </p:spPr>
        <p:txBody>
          <a:bodyPr wrap="square" lIns="0" tIns="0" rIns="0" bIns="0" rtlCol="0" anchor="ctr"/>
          <a:lstStyle/>
          <a:p>
            <a:pPr marL="0" indent="0">
              <a:buNone/>
            </a:pPr>
            <a:r>
              <a:rPr lang="en-US" sz="4000" dirty="0">
                <a:solidFill>
                  <a:srgbClr val="2DD4BF"/>
                </a:solidFill>
                <a:latin typeface="Georgia" pitchFamily="34" charset="0"/>
                <a:ea typeface="Georgia" pitchFamily="34" charset="-122"/>
                <a:cs typeface="Georgia" pitchFamily="34" charset="-120"/>
              </a:rPr>
              <a:t>1</a:t>
            </a:r>
            <a:endParaRPr lang="en-US" sz="4000" dirty="0"/>
          </a:p>
        </p:txBody>
      </p:sp>
      <p:sp>
        <p:nvSpPr>
          <p:cNvPr id="8" name="Text 6"/>
          <p:cNvSpPr/>
          <p:nvPr/>
        </p:nvSpPr>
        <p:spPr>
          <a:xfrm>
            <a:off x="731520" y="2834640"/>
            <a:ext cx="2331720" cy="64008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Student applies</a:t>
            </a:r>
            <a:endParaRPr lang="en-US" sz="1800" dirty="0"/>
          </a:p>
        </p:txBody>
      </p:sp>
      <p:sp>
        <p:nvSpPr>
          <p:cNvPr id="9" name="Text 7"/>
          <p:cNvSpPr/>
          <p:nvPr/>
        </p:nvSpPr>
        <p:spPr>
          <a:xfrm>
            <a:off x="731520" y="3657600"/>
            <a:ext cx="2331720" cy="12801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On your branded site — brand or center.</a:t>
            </a:r>
            <a:endParaRPr lang="en-US" sz="1400" dirty="0"/>
          </a:p>
        </p:txBody>
      </p:sp>
      <p:sp>
        <p:nvSpPr>
          <p:cNvPr id="10" name="Shape 8"/>
          <p:cNvSpPr/>
          <p:nvPr/>
        </p:nvSpPr>
        <p:spPr>
          <a:xfrm>
            <a:off x="3429000" y="1554480"/>
            <a:ext cx="2788920" cy="4023360"/>
          </a:xfrm>
          <a:prstGeom prst="roundRect">
            <a:avLst>
              <a:gd name="adj" fmla="val 3934"/>
            </a:avLst>
          </a:prstGeom>
          <a:solidFill>
            <a:srgbClr val="16324A"/>
          </a:solidFill>
          <a:ln w="12700">
            <a:solidFill>
              <a:srgbClr val="2A455C"/>
            </a:solidFill>
            <a:prstDash val="solid"/>
          </a:ln>
        </p:spPr>
      </p:sp>
      <p:sp>
        <p:nvSpPr>
          <p:cNvPr id="11" name="Text 9"/>
          <p:cNvSpPr/>
          <p:nvPr/>
        </p:nvSpPr>
        <p:spPr>
          <a:xfrm>
            <a:off x="3657600" y="1920240"/>
            <a:ext cx="2286000" cy="640080"/>
          </a:xfrm>
          <a:prstGeom prst="rect">
            <a:avLst/>
          </a:prstGeom>
          <a:noFill/>
          <a:ln/>
        </p:spPr>
        <p:txBody>
          <a:bodyPr wrap="square" lIns="0" tIns="0" rIns="0" bIns="0" rtlCol="0" anchor="ctr"/>
          <a:lstStyle/>
          <a:p>
            <a:pPr marL="0" indent="0">
              <a:buNone/>
            </a:pPr>
            <a:r>
              <a:rPr lang="en-US" sz="4000" dirty="0">
                <a:solidFill>
                  <a:srgbClr val="2DD4BF"/>
                </a:solidFill>
                <a:latin typeface="Georgia" pitchFamily="34" charset="0"/>
                <a:ea typeface="Georgia" pitchFamily="34" charset="-122"/>
                <a:cs typeface="Georgia" pitchFamily="34" charset="-120"/>
              </a:rPr>
              <a:t>2</a:t>
            </a:r>
            <a:endParaRPr lang="en-US" sz="4000" dirty="0"/>
          </a:p>
        </p:txBody>
      </p:sp>
      <p:sp>
        <p:nvSpPr>
          <p:cNvPr id="12" name="Text 10"/>
          <p:cNvSpPr/>
          <p:nvPr/>
        </p:nvSpPr>
        <p:spPr>
          <a:xfrm>
            <a:off x="3657600" y="2834640"/>
            <a:ext cx="2331720" cy="64008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Brand assigns</a:t>
            </a:r>
            <a:endParaRPr lang="en-US" sz="1800" dirty="0"/>
          </a:p>
        </p:txBody>
      </p:sp>
      <p:sp>
        <p:nvSpPr>
          <p:cNvPr id="13" name="Text 11"/>
          <p:cNvSpPr/>
          <p:nvPr/>
        </p:nvSpPr>
        <p:spPr>
          <a:xfrm>
            <a:off x="3657600" y="3657600"/>
            <a:ext cx="2331720" cy="12801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Right center. Owner and SLA visible.</a:t>
            </a:r>
            <a:endParaRPr lang="en-US" sz="1400" dirty="0"/>
          </a:p>
        </p:txBody>
      </p:sp>
      <p:sp>
        <p:nvSpPr>
          <p:cNvPr id="14" name="Shape 12"/>
          <p:cNvSpPr/>
          <p:nvPr/>
        </p:nvSpPr>
        <p:spPr>
          <a:xfrm>
            <a:off x="6355080" y="1554480"/>
            <a:ext cx="2788920" cy="4023360"/>
          </a:xfrm>
          <a:prstGeom prst="roundRect">
            <a:avLst>
              <a:gd name="adj" fmla="val 3934"/>
            </a:avLst>
          </a:prstGeom>
          <a:solidFill>
            <a:srgbClr val="16324A"/>
          </a:solidFill>
          <a:ln w="12700">
            <a:solidFill>
              <a:srgbClr val="2A455C"/>
            </a:solidFill>
            <a:prstDash val="solid"/>
          </a:ln>
        </p:spPr>
      </p:sp>
      <p:sp>
        <p:nvSpPr>
          <p:cNvPr id="15" name="Text 13"/>
          <p:cNvSpPr/>
          <p:nvPr/>
        </p:nvSpPr>
        <p:spPr>
          <a:xfrm>
            <a:off x="6583680" y="1920240"/>
            <a:ext cx="2286000" cy="640080"/>
          </a:xfrm>
          <a:prstGeom prst="rect">
            <a:avLst/>
          </a:prstGeom>
          <a:noFill/>
          <a:ln/>
        </p:spPr>
        <p:txBody>
          <a:bodyPr wrap="square" lIns="0" tIns="0" rIns="0" bIns="0" rtlCol="0" anchor="ctr"/>
          <a:lstStyle/>
          <a:p>
            <a:pPr marL="0" indent="0">
              <a:buNone/>
            </a:pPr>
            <a:r>
              <a:rPr lang="en-US" sz="4000" dirty="0">
                <a:solidFill>
                  <a:srgbClr val="2DD4BF"/>
                </a:solidFill>
                <a:latin typeface="Georgia" pitchFamily="34" charset="0"/>
                <a:ea typeface="Georgia" pitchFamily="34" charset="-122"/>
                <a:cs typeface="Georgia" pitchFamily="34" charset="-120"/>
              </a:rPr>
              <a:t>3</a:t>
            </a:r>
            <a:endParaRPr lang="en-US" sz="4000" dirty="0"/>
          </a:p>
        </p:txBody>
      </p:sp>
      <p:sp>
        <p:nvSpPr>
          <p:cNvPr id="16" name="Text 14"/>
          <p:cNvSpPr/>
          <p:nvPr/>
        </p:nvSpPr>
        <p:spPr>
          <a:xfrm>
            <a:off x="6583680" y="2834640"/>
            <a:ext cx="2331720" cy="64008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Center converts</a:t>
            </a:r>
            <a:endParaRPr lang="en-US" sz="1800" dirty="0"/>
          </a:p>
        </p:txBody>
      </p:sp>
      <p:sp>
        <p:nvSpPr>
          <p:cNvPr id="17" name="Text 15"/>
          <p:cNvSpPr/>
          <p:nvPr/>
        </p:nvSpPr>
        <p:spPr>
          <a:xfrm>
            <a:off x="6583680" y="3657600"/>
            <a:ext cx="2331720" cy="12801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Lead becomes a student. Invite Learn portal.</a:t>
            </a:r>
            <a:endParaRPr lang="en-US" sz="1400" dirty="0"/>
          </a:p>
        </p:txBody>
      </p:sp>
      <p:sp>
        <p:nvSpPr>
          <p:cNvPr id="18" name="Shape 16"/>
          <p:cNvSpPr/>
          <p:nvPr/>
        </p:nvSpPr>
        <p:spPr>
          <a:xfrm>
            <a:off x="9281160" y="1554480"/>
            <a:ext cx="2788920" cy="4023360"/>
          </a:xfrm>
          <a:prstGeom prst="roundRect">
            <a:avLst>
              <a:gd name="adj" fmla="val 3934"/>
            </a:avLst>
          </a:prstGeom>
          <a:solidFill>
            <a:srgbClr val="16324A"/>
          </a:solidFill>
          <a:ln w="12700">
            <a:solidFill>
              <a:srgbClr val="2A455C"/>
            </a:solidFill>
            <a:prstDash val="solid"/>
          </a:ln>
        </p:spPr>
      </p:sp>
      <p:sp>
        <p:nvSpPr>
          <p:cNvPr id="19" name="Text 17"/>
          <p:cNvSpPr/>
          <p:nvPr/>
        </p:nvSpPr>
        <p:spPr>
          <a:xfrm>
            <a:off x="9509760" y="1920240"/>
            <a:ext cx="2286000" cy="640080"/>
          </a:xfrm>
          <a:prstGeom prst="rect">
            <a:avLst/>
          </a:prstGeom>
          <a:noFill/>
          <a:ln/>
        </p:spPr>
        <p:txBody>
          <a:bodyPr wrap="square" lIns="0" tIns="0" rIns="0" bIns="0" rtlCol="0" anchor="ctr"/>
          <a:lstStyle/>
          <a:p>
            <a:pPr marL="0" indent="0">
              <a:buNone/>
            </a:pPr>
            <a:r>
              <a:rPr lang="en-US" sz="4000" dirty="0">
                <a:solidFill>
                  <a:srgbClr val="2DD4BF"/>
                </a:solidFill>
                <a:latin typeface="Georgia" pitchFamily="34" charset="0"/>
                <a:ea typeface="Georgia" pitchFamily="34" charset="-122"/>
                <a:cs typeface="Georgia" pitchFamily="34" charset="-120"/>
              </a:rPr>
              <a:t>4</a:t>
            </a:r>
            <a:endParaRPr lang="en-US" sz="4000" dirty="0"/>
          </a:p>
        </p:txBody>
      </p:sp>
      <p:sp>
        <p:nvSpPr>
          <p:cNvPr id="20" name="Text 18"/>
          <p:cNvSpPr/>
          <p:nvPr/>
        </p:nvSpPr>
        <p:spPr>
          <a:xfrm>
            <a:off x="9509760" y="2834640"/>
            <a:ext cx="2331720" cy="640080"/>
          </a:xfrm>
          <a:prstGeom prst="rect">
            <a:avLst/>
          </a:prstGeom>
          <a:noFill/>
          <a:ln/>
        </p:spPr>
        <p:txBody>
          <a:bodyPr wrap="square" lIns="0" tIns="0" rIns="0" bIns="0" rtlCol="0" anchor="ctr"/>
          <a:lstStyle/>
          <a:p>
            <a:pPr marL="0" indent="0">
              <a:buNone/>
            </a:pPr>
            <a:r>
              <a:rPr lang="en-US" sz="1800" dirty="0">
                <a:solidFill>
                  <a:srgbClr val="F4F7FA"/>
                </a:solidFill>
                <a:latin typeface="Georgia" pitchFamily="34" charset="0"/>
                <a:ea typeface="Georgia" pitchFamily="34" charset="-122"/>
                <a:cs typeface="Georgia" pitchFamily="34" charset="-120"/>
              </a:rPr>
              <a:t>Student learns</a:t>
            </a:r>
            <a:endParaRPr lang="en-US" sz="1800" dirty="0"/>
          </a:p>
        </p:txBody>
      </p:sp>
      <p:sp>
        <p:nvSpPr>
          <p:cNvPr id="21" name="Text 19"/>
          <p:cNvSpPr/>
          <p:nvPr/>
        </p:nvSpPr>
        <p:spPr>
          <a:xfrm>
            <a:off x="9509760" y="3657600"/>
            <a:ext cx="2331720" cy="12801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Progress under your brand — not a random app.</a:t>
            </a:r>
            <a:endParaRPr lang="en-US" sz="1400" dirty="0"/>
          </a:p>
        </p:txBody>
      </p:sp>
      <p:sp>
        <p:nvSpPr>
          <p:cNvPr id="22" name="Text 20"/>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23" name="Text 21"/>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365760"/>
            <a:ext cx="91440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WHO IT’S FOR  ·  HOW IT’S SOLD</a:t>
            </a:r>
            <a:endParaRPr lang="en-US" sz="12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marL="0" indent="0">
              <a:buNone/>
            </a:pPr>
            <a:r>
              <a:rPr lang="en-US" sz="2600" dirty="0">
                <a:solidFill>
                  <a:srgbClr val="F4F7FA"/>
                </a:solidFill>
                <a:latin typeface="Georgia" pitchFamily="34" charset="0"/>
                <a:ea typeface="Georgia" pitchFamily="34" charset="-122"/>
                <a:cs typeface="Georgia" pitchFamily="34" charset="-120"/>
              </a:rPr>
              <a:t>Built for network owners. Used by every center.</a:t>
            </a:r>
            <a:endParaRPr lang="en-US" sz="2600" dirty="0"/>
          </a:p>
        </p:txBody>
      </p:sp>
      <p:sp>
        <p:nvSpPr>
          <p:cNvPr id="6" name="Shape 4"/>
          <p:cNvSpPr/>
          <p:nvPr/>
        </p:nvSpPr>
        <p:spPr>
          <a:xfrm>
            <a:off x="502920" y="1371600"/>
            <a:ext cx="6858000" cy="4572000"/>
          </a:xfrm>
          <a:prstGeom prst="roundRect">
            <a:avLst>
              <a:gd name="adj" fmla="val 2400"/>
            </a:avLst>
          </a:prstGeom>
          <a:solidFill>
            <a:srgbClr val="16324A"/>
          </a:solidFill>
          <a:ln w="12700">
            <a:solidFill>
              <a:srgbClr val="2A455C"/>
            </a:solidFill>
            <a:prstDash val="solid"/>
          </a:ln>
        </p:spPr>
      </p:sp>
      <p:sp>
        <p:nvSpPr>
          <p:cNvPr id="7" name="Text 5"/>
          <p:cNvSpPr/>
          <p:nvPr/>
        </p:nvSpPr>
        <p:spPr>
          <a:xfrm>
            <a:off x="777240" y="1645920"/>
            <a:ext cx="6309360" cy="365760"/>
          </a:xfrm>
          <a:prstGeom prst="rect">
            <a:avLst/>
          </a:prstGeom>
          <a:noFill/>
          <a:ln/>
        </p:spPr>
        <p:txBody>
          <a:bodyPr wrap="square" lIns="0" tIns="0" rIns="0" bIns="0" rtlCol="0" anchor="ctr"/>
          <a:lstStyle/>
          <a:p>
            <a:pPr marL="0" indent="0">
              <a:buNone/>
            </a:pPr>
            <a:r>
              <a:rPr lang="en-US" sz="1600" dirty="0">
                <a:solidFill>
                  <a:srgbClr val="2DD4BF"/>
                </a:solidFill>
                <a:latin typeface="Georgia" pitchFamily="34" charset="0"/>
                <a:ea typeface="Georgia" pitchFamily="34" charset="-122"/>
                <a:cs typeface="Georgia" pitchFamily="34" charset="-120"/>
              </a:rPr>
              <a:t>Ideal buyers</a:t>
            </a:r>
            <a:endParaRPr lang="en-US" sz="1600" dirty="0"/>
          </a:p>
        </p:txBody>
      </p:sp>
      <p:sp>
        <p:nvSpPr>
          <p:cNvPr id="8" name="Text 6"/>
          <p:cNvSpPr/>
          <p:nvPr/>
        </p:nvSpPr>
        <p:spPr>
          <a:xfrm>
            <a:off x="777240" y="2240280"/>
            <a:ext cx="6309360" cy="320040"/>
          </a:xfrm>
          <a:prstGeom prst="rect">
            <a:avLst/>
          </a:prstGeom>
          <a:noFill/>
          <a:ln/>
        </p:spPr>
        <p:txBody>
          <a:bodyPr wrap="square" lIns="0" tIns="0" rIns="0" bIns="0" rtlCol="0" anchor="ctr"/>
          <a:lstStyle/>
          <a:p>
            <a:pPr marL="0" indent="0">
              <a:buNone/>
            </a:pPr>
            <a:r>
              <a:rPr lang="en-US" sz="1600" b="1" dirty="0">
                <a:solidFill>
                  <a:srgbClr val="F4F7FA"/>
                </a:solidFill>
                <a:latin typeface="Calibri" pitchFamily="34" charset="0"/>
                <a:ea typeface="Calibri" pitchFamily="34" charset="-122"/>
                <a:cs typeface="Calibri" pitchFamily="34" charset="-120"/>
              </a:rPr>
              <a:t>Education brand / franchisor</a:t>
            </a:r>
            <a:endParaRPr lang="en-US" sz="1600" dirty="0"/>
          </a:p>
        </p:txBody>
      </p:sp>
      <p:sp>
        <p:nvSpPr>
          <p:cNvPr id="9" name="Text 7"/>
          <p:cNvSpPr/>
          <p:nvPr/>
        </p:nvSpPr>
        <p:spPr>
          <a:xfrm>
            <a:off x="777240" y="2606040"/>
            <a:ext cx="6309360" cy="3657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Governance + growth across centers</a:t>
            </a:r>
            <a:endParaRPr lang="en-US" sz="1400" dirty="0"/>
          </a:p>
        </p:txBody>
      </p:sp>
      <p:sp>
        <p:nvSpPr>
          <p:cNvPr id="10" name="Text 8"/>
          <p:cNvSpPr/>
          <p:nvPr/>
        </p:nvSpPr>
        <p:spPr>
          <a:xfrm>
            <a:off x="777240" y="3291840"/>
            <a:ext cx="6309360" cy="320040"/>
          </a:xfrm>
          <a:prstGeom prst="rect">
            <a:avLst/>
          </a:prstGeom>
          <a:noFill/>
          <a:ln/>
        </p:spPr>
        <p:txBody>
          <a:bodyPr wrap="square" lIns="0" tIns="0" rIns="0" bIns="0" rtlCol="0" anchor="ctr"/>
          <a:lstStyle/>
          <a:p>
            <a:pPr marL="0" indent="0">
              <a:buNone/>
            </a:pPr>
            <a:r>
              <a:rPr lang="en-US" sz="1600" b="1" dirty="0">
                <a:solidFill>
                  <a:srgbClr val="F4F7FA"/>
                </a:solidFill>
                <a:latin typeface="Calibri" pitchFamily="34" charset="0"/>
                <a:ea typeface="Calibri" pitchFamily="34" charset="-122"/>
                <a:cs typeface="Calibri" pitchFamily="34" charset="-120"/>
              </a:rPr>
              <a:t>Multi-location institute owner</a:t>
            </a:r>
            <a:endParaRPr lang="en-US" sz="1600" dirty="0"/>
          </a:p>
        </p:txBody>
      </p:sp>
      <p:sp>
        <p:nvSpPr>
          <p:cNvPr id="11" name="Text 9"/>
          <p:cNvSpPr/>
          <p:nvPr/>
        </p:nvSpPr>
        <p:spPr>
          <a:xfrm>
            <a:off x="777240" y="3657600"/>
            <a:ext cx="6309360" cy="3657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Same brand, shared curriculum, one pipeline</a:t>
            </a:r>
            <a:endParaRPr lang="en-US" sz="1400" dirty="0"/>
          </a:p>
        </p:txBody>
      </p:sp>
      <p:sp>
        <p:nvSpPr>
          <p:cNvPr id="12" name="Text 10"/>
          <p:cNvSpPr/>
          <p:nvPr/>
        </p:nvSpPr>
        <p:spPr>
          <a:xfrm>
            <a:off x="777240" y="4343400"/>
            <a:ext cx="6309360" cy="320040"/>
          </a:xfrm>
          <a:prstGeom prst="rect">
            <a:avLst/>
          </a:prstGeom>
          <a:noFill/>
          <a:ln/>
        </p:spPr>
        <p:txBody>
          <a:bodyPr wrap="square" lIns="0" tIns="0" rIns="0" bIns="0" rtlCol="0" anchor="ctr"/>
          <a:lstStyle/>
          <a:p>
            <a:pPr marL="0" indent="0">
              <a:buNone/>
            </a:pPr>
            <a:r>
              <a:rPr lang="en-US" sz="1600" b="1" dirty="0">
                <a:solidFill>
                  <a:srgbClr val="F4F7FA"/>
                </a:solidFill>
                <a:latin typeface="Calibri" pitchFamily="34" charset="0"/>
                <a:ea typeface="Calibri" pitchFamily="34" charset="-122"/>
                <a:cs typeface="Calibri" pitchFamily="34" charset="-120"/>
              </a:rPr>
              <a:t>Planning to franchise</a:t>
            </a:r>
            <a:endParaRPr lang="en-US" sz="1600" dirty="0"/>
          </a:p>
        </p:txBody>
      </p:sp>
      <p:sp>
        <p:nvSpPr>
          <p:cNvPr id="13" name="Text 11"/>
          <p:cNvSpPr/>
          <p:nvPr/>
        </p:nvSpPr>
        <p:spPr>
          <a:xfrm>
            <a:off x="777240" y="4709160"/>
            <a:ext cx="6309360" cy="365760"/>
          </a:xfrm>
          <a:prstGeom prst="rect">
            <a:avLst/>
          </a:prstGeom>
          <a:noFill/>
          <a:ln/>
        </p:spPr>
        <p:txBody>
          <a:bodyPr wrap="square" lIns="0" tIns="0" rIns="0" bIns="0" rtlCol="0" anchor="ctr"/>
          <a:lstStyle/>
          <a:p>
            <a:pPr marL="0" indent="0">
              <a:buNone/>
            </a:pPr>
            <a:r>
              <a:rPr lang="en-US" sz="1400" dirty="0">
                <a:solidFill>
                  <a:srgbClr val="A8B8C8"/>
                </a:solidFill>
                <a:latin typeface="Calibri" pitchFamily="34" charset="0"/>
                <a:ea typeface="Calibri" pitchFamily="34" charset="-122"/>
                <a:cs typeface="Calibri" pitchFamily="34" charset="-120"/>
              </a:rPr>
              <a:t>Apply → approve → live center + staff access</a:t>
            </a:r>
            <a:endParaRPr lang="en-US" sz="1400" dirty="0"/>
          </a:p>
        </p:txBody>
      </p:sp>
      <p:sp>
        <p:nvSpPr>
          <p:cNvPr id="14" name="Shape 12"/>
          <p:cNvSpPr/>
          <p:nvPr/>
        </p:nvSpPr>
        <p:spPr>
          <a:xfrm>
            <a:off x="7589520" y="1371600"/>
            <a:ext cx="4114800" cy="4572000"/>
          </a:xfrm>
          <a:prstGeom prst="roundRect">
            <a:avLst>
              <a:gd name="adj" fmla="val 2667"/>
            </a:avLst>
          </a:prstGeom>
          <a:solidFill>
            <a:srgbClr val="16324A"/>
          </a:solidFill>
          <a:ln w="12700">
            <a:solidFill>
              <a:srgbClr val="2A455C"/>
            </a:solidFill>
            <a:prstDash val="solid"/>
          </a:ln>
        </p:spPr>
      </p:sp>
      <p:sp>
        <p:nvSpPr>
          <p:cNvPr id="15" name="Text 13"/>
          <p:cNvSpPr/>
          <p:nvPr/>
        </p:nvSpPr>
        <p:spPr>
          <a:xfrm>
            <a:off x="7863840" y="1645920"/>
            <a:ext cx="3566160" cy="365760"/>
          </a:xfrm>
          <a:prstGeom prst="rect">
            <a:avLst/>
          </a:prstGeom>
          <a:noFill/>
          <a:ln/>
        </p:spPr>
        <p:txBody>
          <a:bodyPr wrap="square" lIns="0" tIns="0" rIns="0" bIns="0" rtlCol="0" anchor="ctr"/>
          <a:lstStyle/>
          <a:p>
            <a:pPr marL="0" indent="0">
              <a:buNone/>
            </a:pPr>
            <a:r>
              <a:rPr lang="en-US" sz="1600" dirty="0">
                <a:solidFill>
                  <a:srgbClr val="2DD4BF"/>
                </a:solidFill>
                <a:latin typeface="Georgia" pitchFamily="34" charset="0"/>
                <a:ea typeface="Georgia" pitchFamily="34" charset="-122"/>
                <a:cs typeface="Georgia" pitchFamily="34" charset="-120"/>
              </a:rPr>
              <a:t>Commercial</a:t>
            </a:r>
            <a:endParaRPr lang="en-US" sz="1600" dirty="0"/>
          </a:p>
        </p:txBody>
      </p:sp>
      <p:sp>
        <p:nvSpPr>
          <p:cNvPr id="16" name="Text 14"/>
          <p:cNvSpPr/>
          <p:nvPr/>
        </p:nvSpPr>
        <p:spPr>
          <a:xfrm>
            <a:off x="7863840" y="2240280"/>
            <a:ext cx="3566160" cy="3291840"/>
          </a:xfrm>
          <a:prstGeom prst="rect">
            <a:avLst/>
          </a:prstGeom>
          <a:noFill/>
          <a:ln/>
        </p:spPr>
        <p:txBody>
          <a:bodyPr wrap="square" lIns="0" tIns="0" rIns="0" bIns="0" rtlCol="0" anchor="ctr"/>
          <a:lstStyle/>
          <a:p>
            <a:pPr marL="0" indent="0">
              <a:buNone/>
            </a:pPr>
            <a:r>
              <a:rPr lang="en-US" sz="1400" dirty="0">
                <a:solidFill>
                  <a:srgbClr val="F4F7FA"/>
                </a:solidFill>
                <a:latin typeface="Calibri" pitchFamily="34" charset="0"/>
                <a:ea typeface="Calibri" pitchFamily="34" charset="-122"/>
                <a:cs typeface="Calibri" pitchFamily="34" charset="-120"/>
              </a:rPr>
              <a:t>Brand pays EduNudg subscription.</a:t>
            </a:r>
            <a:endParaRPr lang="en-US" sz="1400" dirty="0"/>
          </a:p>
          <a:p>
            <a:pPr marL="0" indent="0">
              <a:buNone/>
            </a:pPr>
            <a:endParaRPr lang="en-US" sz="1400" dirty="0"/>
          </a:p>
          <a:p>
            <a:pPr marL="0" indent="0">
              <a:buNone/>
            </a:pPr>
            <a:r>
              <a:rPr lang="en-US" sz="1400" dirty="0">
                <a:solidFill>
                  <a:srgbClr val="F4F7FA"/>
                </a:solidFill>
                <a:latin typeface="Calibri" pitchFamily="34" charset="0"/>
                <a:ea typeface="Calibri" pitchFamily="34" charset="-122"/>
                <a:cs typeface="Calibri" pitchFamily="34" charset="-120"/>
              </a:rPr>
              <a:t>Franchises use the product — they don’t buy the platform.</a:t>
            </a:r>
            <a:endParaRPr lang="en-US" sz="1400" dirty="0"/>
          </a:p>
          <a:p>
            <a:pPr marL="0" indent="0">
              <a:buNone/>
            </a:pPr>
            <a:endParaRPr lang="en-US" sz="1400" dirty="0"/>
          </a:p>
          <a:p>
            <a:pPr marL="0" indent="0">
              <a:buNone/>
            </a:pPr>
            <a:r>
              <a:rPr lang="en-US" sz="1400" dirty="0">
                <a:solidFill>
                  <a:srgbClr val="F4F7FA"/>
                </a:solidFill>
                <a:latin typeface="Calibri" pitchFamily="34" charset="0"/>
                <a:ea typeface="Calibri" pitchFamily="34" charset="-122"/>
                <a:cs typeface="Calibri" pitchFamily="34" charset="-120"/>
              </a:rPr>
              <a:t>Royalties &amp; kits stay your terms with franchisees.</a:t>
            </a:r>
            <a:endParaRPr lang="en-US" sz="1400" dirty="0"/>
          </a:p>
          <a:p>
            <a:pPr marL="0" indent="0">
              <a:buNone/>
            </a:pPr>
            <a:endParaRPr lang="en-US" sz="1400" dirty="0"/>
          </a:p>
          <a:p>
            <a:pPr marL="0" indent="0">
              <a:buNone/>
            </a:pPr>
            <a:r>
              <a:rPr lang="en-US" sz="1400" dirty="0">
                <a:solidFill>
                  <a:srgbClr val="F4F7FA"/>
                </a:solidFill>
                <a:latin typeface="Calibri" pitchFamily="34" charset="0"/>
                <a:ea typeface="Calibri" pitchFamily="34" charset="-122"/>
                <a:cs typeface="Calibri" pitchFamily="34" charset="-120"/>
              </a:rPr>
              <a:t>Trial first: one brand, one or two centers, real inquiries.</a:t>
            </a:r>
            <a:endParaRPr lang="en-US" sz="1400" dirty="0"/>
          </a:p>
        </p:txBody>
      </p:sp>
      <p:sp>
        <p:nvSpPr>
          <p:cNvPr id="17" name="Text 15"/>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18" name="Text 16"/>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73152"/>
          </a:xfrm>
          <a:prstGeom prst="rect">
            <a:avLst/>
          </a:prstGeom>
          <a:solidFill>
            <a:srgbClr val="2DD4BF"/>
          </a:solidFill>
          <a:ln w="12700">
            <a:solidFill>
              <a:srgbClr val="2DD4BF"/>
            </a:solidFill>
            <a:prstDash val="solid"/>
          </a:ln>
        </p:spPr>
      </p:sp>
      <p:sp>
        <p:nvSpPr>
          <p:cNvPr id="4" name="Text 2"/>
          <p:cNvSpPr/>
          <p:nvPr/>
        </p:nvSpPr>
        <p:spPr>
          <a:xfrm>
            <a:off x="640080" y="1188720"/>
            <a:ext cx="548640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NEXT STEP</a:t>
            </a:r>
            <a:endParaRPr lang="en-US" sz="1200" dirty="0"/>
          </a:p>
        </p:txBody>
      </p:sp>
      <p:sp>
        <p:nvSpPr>
          <p:cNvPr id="5" name="Text 3"/>
          <p:cNvSpPr/>
          <p:nvPr/>
        </p:nvSpPr>
        <p:spPr>
          <a:xfrm>
            <a:off x="640080" y="1645920"/>
            <a:ext cx="10972800" cy="640080"/>
          </a:xfrm>
          <a:prstGeom prst="rect">
            <a:avLst/>
          </a:prstGeom>
          <a:noFill/>
          <a:ln/>
        </p:spPr>
        <p:txBody>
          <a:bodyPr wrap="square" lIns="0" tIns="0" rIns="0" bIns="0" rtlCol="0" anchor="ctr"/>
          <a:lstStyle/>
          <a:p>
            <a:pPr marL="0" indent="0">
              <a:buNone/>
            </a:pPr>
            <a:r>
              <a:rPr lang="en-US" sz="3400" dirty="0">
                <a:solidFill>
                  <a:srgbClr val="F4F7FA"/>
                </a:solidFill>
                <a:latin typeface="Georgia" pitchFamily="34" charset="0"/>
                <a:ea typeface="Georgia" pitchFamily="34" charset="-122"/>
                <a:cs typeface="Georgia" pitchFamily="34" charset="-120"/>
              </a:rPr>
              <a:t>Start your trial brand this week.</a:t>
            </a:r>
            <a:endParaRPr lang="en-US" sz="3400" dirty="0"/>
          </a:p>
        </p:txBody>
      </p:sp>
      <p:sp>
        <p:nvSpPr>
          <p:cNvPr id="6" name="Text 4"/>
          <p:cNvSpPr/>
          <p:nvPr/>
        </p:nvSpPr>
        <p:spPr>
          <a:xfrm>
            <a:off x="640080" y="2468880"/>
            <a:ext cx="10515600" cy="1005840"/>
          </a:xfrm>
          <a:prstGeom prst="rect">
            <a:avLst/>
          </a:prstGeom>
          <a:noFill/>
          <a:ln/>
        </p:spPr>
        <p:txBody>
          <a:bodyPr wrap="square" lIns="0" tIns="0" rIns="0" bIns="0" rtlCol="0" anchor="ctr"/>
          <a:lstStyle/>
          <a:p>
            <a:pPr marL="0" indent="0">
              <a:buNone/>
            </a:pPr>
            <a:r>
              <a:rPr lang="en-US" sz="1600" dirty="0">
                <a:solidFill>
                  <a:srgbClr val="A8B8C8"/>
                </a:solidFill>
                <a:latin typeface="Calibri" pitchFamily="34" charset="0"/>
                <a:ea typeface="Calibri" pitchFamily="34" charset="-122"/>
                <a:cs typeface="Calibri" pitchFamily="34" charset="-120"/>
              </a:rPr>
              <a:t>I’m not asking you to rip out everything tomorrow.</a:t>
            </a:r>
            <a:endParaRPr lang="en-US" sz="1600" dirty="0"/>
          </a:p>
          <a:p>
            <a:pPr marL="0" indent="0">
              <a:buNone/>
            </a:pPr>
            <a:r>
              <a:rPr lang="en-US" sz="1600" dirty="0">
                <a:solidFill>
                  <a:srgbClr val="A8B8C8"/>
                </a:solidFill>
                <a:latin typeface="Calibri" pitchFamily="34" charset="0"/>
                <a:ea typeface="Calibri" pitchFamily="34" charset="-122"/>
                <a:cs typeface="Calibri" pitchFamily="34" charset="-120"/>
              </a:rPr>
              <a:t>I’m asking you to put one brand on EduNudg — website live, one or two centers, real inquiries in a pipeline you can see.</a:t>
            </a:r>
            <a:endParaRPr lang="en-US" sz="1600" dirty="0"/>
          </a:p>
        </p:txBody>
      </p:sp>
      <p:sp>
        <p:nvSpPr>
          <p:cNvPr id="7" name="Shape 5"/>
          <p:cNvSpPr/>
          <p:nvPr/>
        </p:nvSpPr>
        <p:spPr>
          <a:xfrm>
            <a:off x="640080" y="3749040"/>
            <a:ext cx="10881360" cy="1828800"/>
          </a:xfrm>
          <a:prstGeom prst="roundRect">
            <a:avLst>
              <a:gd name="adj" fmla="val 6000"/>
            </a:avLst>
          </a:prstGeom>
          <a:solidFill>
            <a:srgbClr val="16324A"/>
          </a:solidFill>
          <a:ln w="12700">
            <a:solidFill>
              <a:srgbClr val="2A455C"/>
            </a:solidFill>
            <a:prstDash val="solid"/>
          </a:ln>
        </p:spPr>
      </p:sp>
      <p:sp>
        <p:nvSpPr>
          <p:cNvPr id="8" name="Text 6"/>
          <p:cNvSpPr/>
          <p:nvPr/>
        </p:nvSpPr>
        <p:spPr>
          <a:xfrm>
            <a:off x="914400" y="4023360"/>
            <a:ext cx="10332720" cy="1280160"/>
          </a:xfrm>
          <a:prstGeom prst="rect">
            <a:avLst/>
          </a:prstGeom>
          <a:noFill/>
          <a:ln/>
        </p:spPr>
        <p:txBody>
          <a:bodyPr wrap="square" lIns="0" tIns="0" rIns="0" bIns="0" rtlCol="0" anchor="ctr"/>
          <a:lstStyle/>
          <a:p>
            <a:pPr marL="0" indent="0">
              <a:buNone/>
            </a:pPr>
            <a:r>
              <a:rPr lang="en-US" sz="1500" dirty="0">
                <a:solidFill>
                  <a:srgbClr val="F4F7FA"/>
                </a:solidFill>
                <a:latin typeface="Calibri" pitchFamily="34" charset="0"/>
                <a:ea typeface="Calibri" pitchFamily="34" charset="-122"/>
                <a:cs typeface="Calibri" pitchFamily="34" charset="-120"/>
              </a:rPr>
              <a:t>If by the end of the trial you still need WhatsApp to know who enrolled — we haven’t earned your business.</a:t>
            </a:r>
            <a:endParaRPr lang="en-US" sz="1500" dirty="0"/>
          </a:p>
          <a:p>
            <a:pPr marL="0" indent="0">
              <a:buNone/>
            </a:pPr>
            <a:r>
              <a:rPr lang="en-US" sz="1500" dirty="0">
                <a:solidFill>
                  <a:srgbClr val="F4F7FA"/>
                </a:solidFill>
                <a:latin typeface="Calibri" pitchFamily="34" charset="0"/>
                <a:ea typeface="Calibri" pitchFamily="34" charset="-122"/>
                <a:cs typeface="Calibri" pitchFamily="34" charset="-120"/>
              </a:rPr>
              <a:t>If leads are owned, centers are consistent, and Students see a professional brand — you’ll wonder how you ran the network without it.</a:t>
            </a:r>
            <a:endParaRPr lang="en-US" sz="1500" dirty="0"/>
          </a:p>
        </p:txBody>
      </p:sp>
      <p:sp>
        <p:nvSpPr>
          <p:cNvPr id="9" name="Text 7"/>
          <p:cNvSpPr/>
          <p:nvPr/>
        </p:nvSpPr>
        <p:spPr>
          <a:xfrm>
            <a:off x="457200" y="6492240"/>
            <a:ext cx="9144000" cy="228600"/>
          </a:xfrm>
          <a:prstGeom prst="rect">
            <a:avLst/>
          </a:prstGeom>
          <a:noFill/>
          <a:ln/>
        </p:spPr>
        <p:txBody>
          <a:bodyPr wrap="square" lIns="0" tIns="0" rIns="0" bIns="0" rtlCol="0" anchor="ctr"/>
          <a:lstStyle/>
          <a:p>
            <a:pPr marL="0" indent="0">
              <a:buNone/>
            </a:pPr>
            <a:r>
              <a:rPr lang="en-US" sz="1000" dirty="0">
                <a:solidFill>
                  <a:srgbClr val="A8B8C8"/>
                </a:solidFill>
                <a:latin typeface="Calibri" pitchFamily="34" charset="0"/>
                <a:ea typeface="Calibri" pitchFamily="34" charset="-122"/>
                <a:cs typeface="Calibri" pitchFamily="34" charset="-120"/>
              </a:rPr>
              <a:t>EduNudg  ·  The learning OS for education networks</a:t>
            </a:r>
            <a:endParaRPr lang="en-US" sz="1000" dirty="0"/>
          </a:p>
        </p:txBody>
      </p:sp>
      <p:sp>
        <p:nvSpPr>
          <p:cNvPr id="10" name="Text 8"/>
          <p:cNvSpPr/>
          <p:nvPr/>
        </p:nvSpPr>
        <p:spPr>
          <a:xfrm>
            <a:off x="10515600" y="6492240"/>
            <a:ext cx="1188720" cy="228600"/>
          </a:xfrm>
          <a:prstGeom prst="rect">
            <a:avLst/>
          </a:prstGeom>
          <a:noFill/>
          <a:ln/>
        </p:spPr>
        <p:txBody>
          <a:bodyPr wrap="square" lIns="0" tIns="0" rIns="0" bIns="0" rtlCol="0" anchor="ctr"/>
          <a:lstStyle/>
          <a:p>
            <a:pPr marL="0" indent="0" algn="r">
              <a:buNone/>
            </a:pPr>
            <a:r>
              <a:rPr lang="en-US" sz="1000" dirty="0">
                <a:solidFill>
                  <a:srgbClr val="A8B8C8"/>
                </a:solidFill>
                <a:latin typeface="Calibri" pitchFamily="34" charset="0"/>
                <a:ea typeface="Calibri" pitchFamily="34" charset="-122"/>
                <a:cs typeface="Calibr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2750</Words>
  <Application>Microsoft Macintosh PowerPoint</Application>
  <PresentationFormat>Widescreen</PresentationFormat>
  <Paragraphs>200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EduNudg — Franchise Learning OS Pitch Deck</dc:title>
  <dc:subject>Sales pitch for education brand and institute owners</dc:subject>
  <dc:creator>EduNudg</dc:creator>
  <cp:lastModifiedBy>TheDigitley.in</cp:lastModifiedBy>
  <cp:revision>5</cp:revision>
  <dcterms:created xsi:type="dcterms:W3CDTF">2026-09-05T07:53:29Z</dcterms:created>
  <dcterms:modified xsi:type="dcterms:W3CDTF">2026-09-05T08:03:45Z</dcterms:modified>
</cp:coreProperties>
</file>